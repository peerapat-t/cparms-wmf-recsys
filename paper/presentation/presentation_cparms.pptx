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410" r:id="rId3"/>
    <p:sldId id="999" r:id="rId28"/>
    <p:sldId id="386" r:id="rId4"/>
    <p:sldId id="382" r:id="rId5"/>
    <p:sldId id="417" r:id="rId6"/>
    <p:sldId id="355" r:id="rId7"/>
    <p:sldId id="418" r:id="rId8"/>
    <p:sldId id="404" r:id="rId9"/>
    <p:sldId id="405" r:id="rId10"/>
    <p:sldId id="391" r:id="rId11"/>
    <p:sldId id="374" r:id="rId12"/>
    <p:sldId id="276" r:id="rId13"/>
    <p:sldId id="353" r:id="rId14"/>
    <p:sldId id="316" r:id="rId15"/>
    <p:sldId id="371" r:id="rId16"/>
    <p:sldId id="366" r:id="rId17"/>
    <p:sldId id="365" r:id="rId18"/>
    <p:sldId id="415" r:id="rId19"/>
    <p:sldId id="416" r:id="rId20"/>
    <p:sldId id="412" r:id="rId21"/>
    <p:sldId id="413" r:id="rId22"/>
    <p:sldId id="1000" r:id="rId29"/>
    <p:sldId id="1001" r:id="rId30"/>
  </p:sldIdLst>
  <p:sldSz cx="12192000" cy="6858000"/>
  <p:notesSz cx="7099300" cy="9385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3934DEEB-45A7-4908-B805-5B08ACDB45A4}">
          <p14:sldIdLst>
            <p14:sldId id="256"/>
          </p14:sldIdLst>
        </p14:section>
        <p14:section name="QA" id="{D21C0258-7BAA-40A9-8B3C-CF2973FEEED5}">
          <p14:sldIdLst>
            <p14:sldId id="410"/>
          </p14:sldIdLst>
        </p14:section>
        <p14:section name="introduction" id="{24892E66-1F60-421B-96AD-81FD612E581E}">
          <p14:sldIdLst>
            <p14:sldId id="386"/>
            <p14:sldId id="382"/>
            <p14:sldId id="417"/>
          </p14:sldIdLst>
        </p14:section>
        <p14:section name="literature review" id="{FA6765BA-BF4A-40D8-979E-B4B323F1A643}">
          <p14:sldIdLst>
            <p14:sldId id="355"/>
            <p14:sldId id="418"/>
            <p14:sldId id="404"/>
            <p14:sldId id="405"/>
          </p14:sldIdLst>
        </p14:section>
        <p14:section name="model" id="{797D378D-CF97-468E-8A40-67B0C93B815E}">
          <p14:sldIdLst>
            <p14:sldId id="391"/>
            <p14:sldId id="374"/>
            <p14:sldId id="276"/>
          </p14:sldIdLst>
        </p14:section>
        <p14:section name="experiments" id="{889C134F-F42C-409B-9DC0-813FFB1AF0A5}">
          <p14:sldIdLst>
            <p14:sldId id="353"/>
            <p14:sldId id="316"/>
            <p14:sldId id="371"/>
            <p14:sldId id="366"/>
            <p14:sldId id="365"/>
          </p14:sldIdLst>
        </p14:section>
        <p14:section name="results" id="{97A5D411-CCB7-409D-AD6D-4EC93ACD795E}">
          <p14:sldIdLst>
            <p14:sldId id="415"/>
            <p14:sldId id="416"/>
            <p14:sldId id="412"/>
          </p14:sldIdLst>
        </p14:section>
        <p14:section name="summary" id="{C65D229A-A906-4CCD-B6FD-05D9C5BF813E}">
          <p14:sldIdLst>
            <p14:sldId id="4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3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Luxury Beauty</c:v>
                </c:pt>
                <c:pt idx="1">
                  <c:v>Industry</c:v>
                </c:pt>
                <c:pt idx="2">
                  <c:v>Pantry</c:v>
                </c:pt>
                <c:pt idx="3">
                  <c:v>Music</c:v>
                </c:pt>
                <c:pt idx="4">
                  <c:v>Instruments</c:v>
                </c:pt>
              </c:strCache>
            </c:strRef>
          </c:cat>
          <c:val>
            <c:numRef>
              <c:f>Sheet1!$B$2:$B$6</c:f>
              <c:numCache>
                <c:formatCode>_(* #,##0_);_(* \(#,##0\);_(* "-"??_);_(@_)</c:formatCode>
                <c:ptCount val="5"/>
                <c:pt idx="0">
                  <c:v>3819</c:v>
                </c:pt>
                <c:pt idx="1">
                  <c:v>11041</c:v>
                </c:pt>
                <c:pt idx="2">
                  <c:v>14180</c:v>
                </c:pt>
                <c:pt idx="3">
                  <c:v>16566</c:v>
                </c:pt>
                <c:pt idx="4">
                  <c:v>27530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C-4266-8E5B-314169C081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Luxury Beauty</c:v>
                </c:pt>
                <c:pt idx="1">
                  <c:v>Industry</c:v>
                </c:pt>
                <c:pt idx="2">
                  <c:v>Pantry</c:v>
                </c:pt>
                <c:pt idx="3">
                  <c:v>Music</c:v>
                </c:pt>
                <c:pt idx="4">
                  <c:v>Instruments</c:v>
                </c:pt>
              </c:strCache>
            </c:strRef>
          </c:cat>
          <c:val>
            <c:numRef>
              <c:f>Sheet1!$C$2:$C$6</c:f>
              <c:numCache>
                <c:formatCode>_(* #,##0_);_(* \(#,##0\);_(* "-"??_);_(@_)</c:formatCode>
                <c:ptCount val="5"/>
                <c:pt idx="0">
                  <c:v>1581</c:v>
                </c:pt>
                <c:pt idx="1">
                  <c:v>5334</c:v>
                </c:pt>
                <c:pt idx="2">
                  <c:v>4970</c:v>
                </c:pt>
                <c:pt idx="3">
                  <c:v>11797</c:v>
                </c:pt>
                <c:pt idx="4">
                  <c:v>10620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C-4266-8E5B-314169C081B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74819184"/>
        <c:axId val="974819664"/>
      </c:barChart>
      <c:catAx>
        <c:axId val="974819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819664"/>
        <c:crosses val="autoZero"/>
        <c:auto val="1"/>
        <c:lblAlgn val="ctr"/>
        <c:lblOffset val="100"/>
        <c:noMultiLvlLbl val="0"/>
      </c:catAx>
      <c:valAx>
        <c:axId val="974819664"/>
        <c:scaling>
          <c:orientation val="minMax"/>
        </c:scaling>
        <c:delete val="1"/>
        <c:axPos val="l"/>
        <c:numFmt formatCode="_(* #,##0_);_(* \(#,##0\);_(* &quot;-&quot;??_);_(@_)" sourceLinked="1"/>
        <c:majorTickMark val="none"/>
        <c:minorTickMark val="none"/>
        <c:tickLblPos val="nextTo"/>
        <c:crossAx val="974819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Luxury Beauty</c:v>
                </c:pt>
                <c:pt idx="1">
                  <c:v>Industry</c:v>
                </c:pt>
                <c:pt idx="2">
                  <c:v>Pantry</c:v>
                </c:pt>
                <c:pt idx="3">
                  <c:v>Music</c:v>
                </c:pt>
                <c:pt idx="4">
                  <c:v>Instruments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4.6496768131776955E-3</c:v>
                </c:pt>
                <c:pt idx="1">
                  <c:v>1.2229870143145431E-3</c:v>
                </c:pt>
                <c:pt idx="2">
                  <c:v>1.8604433370320655E-3</c:v>
                </c:pt>
                <c:pt idx="3">
                  <c:v>7.4345119796948153E-4</c:v>
                </c:pt>
                <c:pt idx="4">
                  <c:v>7.495880200541371E-4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3E-4D83-9AF0-6168FCBDE8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9976544"/>
        <c:axId val="479977504"/>
      </c:barChart>
      <c:catAx>
        <c:axId val="479976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9977504"/>
        <c:crosses val="autoZero"/>
        <c:auto val="1"/>
        <c:lblAlgn val="ctr"/>
        <c:lblOffset val="100"/>
        <c:noMultiLvlLbl val="0"/>
      </c:catAx>
      <c:valAx>
        <c:axId val="479977504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479976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Standard-WMF</c:v>
                </c:pt>
              </c:strCache>
            </c:strRef>
          </c:tx>
          <c:invertIfNegative val="1"/>
          <c:dLbls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Luxury Beauty</c:v>
                </c:pt>
                <c:pt idx="1">
                  <c:v>Industrial</c:v>
                </c:pt>
                <c:pt idx="2">
                  <c:v>Pantry</c:v>
                </c:pt>
                <c:pt idx="3">
                  <c:v>Music</c:v>
                </c:pt>
                <c:pt idx="4">
                  <c:v>Instruments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0.108</c:v>
                </c:pt>
                <c:pt idx="1">
                  <c:v>0.34399999999999997</c:v>
                </c:pt>
                <c:pt idx="2">
                  <c:v>0.32900000000000001</c:v>
                </c:pt>
                <c:pt idx="3">
                  <c:v>0.52300000000000002</c:v>
                </c:pt>
                <c:pt idx="4">
                  <c:v>0.61899999999999999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5B-4EFD-A20D-C3CF276FEF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CoFactor-WMF</c:v>
                </c:pt>
              </c:strCache>
            </c:strRef>
          </c:tx>
          <c:invertIfNegative val="1"/>
          <c:dLbls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Luxury Beauty</c:v>
                </c:pt>
                <c:pt idx="1">
                  <c:v>Industrial</c:v>
                </c:pt>
                <c:pt idx="2">
                  <c:v>Pantry</c:v>
                </c:pt>
                <c:pt idx="3">
                  <c:v>Music</c:v>
                </c:pt>
                <c:pt idx="4">
                  <c:v>Instruments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0.16200000000000001</c:v>
                </c:pt>
                <c:pt idx="1">
                  <c:v>0.53400000000000003</c:v>
                </c:pt>
                <c:pt idx="2">
                  <c:v>0.63100000000000001</c:v>
                </c:pt>
                <c:pt idx="3">
                  <c:v>1.1479999999999999</c:v>
                </c:pt>
                <c:pt idx="4">
                  <c:v>1.3440000000000001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5B-4EFD-A20D-C3CF276FEF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CPARMS-WMF</c:v>
                </c:pt>
              </c:strCache>
            </c:strRef>
          </c:tx>
          <c:invertIfNegative val="1"/>
          <c:dLbls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Luxury Beauty</c:v>
                </c:pt>
                <c:pt idx="1">
                  <c:v>Industrial</c:v>
                </c:pt>
                <c:pt idx="2">
                  <c:v>Pantry</c:v>
                </c:pt>
                <c:pt idx="3">
                  <c:v>Music</c:v>
                </c:pt>
                <c:pt idx="4">
                  <c:v>Instruments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0.33400000000000002</c:v>
                </c:pt>
                <c:pt idx="1">
                  <c:v>2.3029999999999999</c:v>
                </c:pt>
                <c:pt idx="2">
                  <c:v>2.452</c:v>
                </c:pt>
                <c:pt idx="3">
                  <c:v>4.3049999999999997</c:v>
                </c:pt>
                <c:pt idx="4">
                  <c:v>8.8179999999999996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5B-4EFD-A20D-C3CF276FEF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r>
                  <a:rPr lang="en-US"/>
                  <a:t>Minutes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8420FE-A266-4FAC-88CD-CDCD07D8AEF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29275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516438"/>
            <a:ext cx="5680075" cy="3695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5400"/>
            <a:ext cx="3076575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8915400"/>
            <a:ext cx="3076575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4674D-F573-4163-BFE0-4EEE507F6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65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14674D-F573-4163-BFE0-4EEE507F62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7328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C30E-9EBC-1574-FBC2-F7F902D3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F055D-731C-FBF2-5576-35F8826CA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0D4E4-2F99-5B38-B495-52AB3B7CD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8E626-083C-47FB-90AE-2C71A9038C1E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FB685-E381-ABC1-5E0A-9808248CE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A8C6A-AE0C-15FA-34A3-13583859E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1914-AF5E-4610-B8D9-A8FAB2066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8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65A20-6EBE-B80C-7691-7F4A7113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4B0AF-AAB5-F5B9-B914-AB5823EED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94CD7-702E-1D9C-0DB1-22D1B5DBC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B8CD2-CFB5-4D89-AA00-41002B0DCF3A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E230B-389D-C848-CBE7-8D3A3BD5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CAD19-1C3C-A387-3A34-8BBD0F16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1914-AF5E-4610-B8D9-A8FAB2066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00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9C8F-631A-FE7F-4354-77F42C7FA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12A16-2FE2-64DC-68F8-9A812276A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2F47A-4366-F83E-EBC5-C94AE1C33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1ACA-142F-4448-ADB6-DA9613866F40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E642C-B87D-B618-3EE9-CB3A336A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5E6D7-8738-1035-66A8-A93667D1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1914-AF5E-4610-B8D9-A8FAB2066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83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326B3-203A-DAEE-D647-09FC3602E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B6F69-4CC7-345E-91B6-08DD77F0A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1715F-F7D5-44F7-38D7-4C0108F46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E5308-0DBF-589D-31E6-BA4BE5BA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F37DF-C7A0-49A3-BF36-2965999BA5C2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9252A-8E5F-4949-24F7-94FCEB281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AB56F-1B19-172C-FC88-D22E2B45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1914-AF5E-4610-B8D9-A8FAB2066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0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0C199-A2AF-8962-8C43-F7B5CD17E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93CF4-6486-8391-1DE5-3B5627C87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8E403-16FB-C7FC-4B60-B5F1DD947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A2AF78-1982-0B52-9EF9-B23F17B169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822760-69E6-08AB-E4D5-8DB1702537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C4B202-BC48-FF9B-2823-790B2B8FD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9770-B31C-48AB-949A-3265A12AD325}" type="datetime1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8E1FEC-3EF1-21F7-BEEE-E464AD89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706695-43C5-8E3F-F597-1090C030A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1914-AF5E-4610-B8D9-A8FAB2066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3842-49B2-C259-E747-562CD634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8A518F-AB07-49E0-47A2-1F20A210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7321E-4285-4A01-A7AC-106D31957CFA}" type="datetime1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F05D9-AEA5-08B4-E067-445628D7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EEBC0-CE11-DF56-BD82-7F89FE91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1914-AF5E-4610-B8D9-A8FAB2066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93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2D70B4-59C1-314D-4431-B54ECEC2C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ADF25-201B-46AA-93FE-5705BE325F83}" type="datetime1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7CC5A-FEC0-F253-A456-FCD42D798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68311-3C36-27F0-719B-7E9A5BA4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1914-AF5E-4610-B8D9-A8FAB2066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33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CBDB2-DF33-7590-C840-238A493A4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A9009-746B-7F97-AF94-B38358FED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4F050-12E7-8698-B1C5-0855260B5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4C756-49F0-34B9-F886-57EC5B28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129D-09C2-4A78-B6D3-E57A83D1515B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FD29A-CD45-3CE6-B34C-163E667BB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8336D-5269-765C-E1A0-3164DE041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1914-AF5E-4610-B8D9-A8FAB2066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6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ED91A-05A2-378F-BC42-6EA6D0005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3D1DBE-55C8-36D4-25EC-246189F5D5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308F3-C71D-5293-AFD1-378DCD031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7ADCD-C399-2C7C-39E8-E86ED0E7E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A1AD2-9AEA-4062-A4FC-7E284A30A1E1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83F3D-3851-CD0A-9D4D-BD1F8F026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8022E-9797-0BC6-1C0B-8EB4923B5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1914-AF5E-4610-B8D9-A8FAB2066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76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007B8-8A50-F3F0-67B8-9CA0EF9CB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028AA-363B-E445-8BC6-C2FEB909E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52C48-788E-7E43-30DB-5A87A4AD2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B4159-75B7-4401-AF23-26971EF7CDE0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64FB3-E616-196F-A79E-57ED7CA6E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0B2EF-3A67-34C5-FF2F-05A45F59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1914-AF5E-4610-B8D9-A8FAB2066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97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E54912-A75E-D5DA-C1C3-B468F4874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D7703-937E-9E7F-6A4D-0969FA927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CE980-1C26-346F-21CB-9C9943392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29A9-48B2-4DDE-A4B9-9FDA9019B764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FCD13-A0B4-E6A1-7A56-7EDE524D6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E70AE-DBA8-DC39-A2E2-EAD1A41DC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E1914-AF5E-4610-B8D9-A8FAB2066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710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42861-3B3B-C14C-53DA-FB1A8D5C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3022E-AD40-65C9-D8AC-6899779DD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1D25D-5AE4-E00A-3812-99B27158E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47DAF-7CF6-43E6-8C5F-668231FCFB6B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1B089-AA4E-D454-B08E-5C301A888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BC7D8-EC3D-2F61-5DAF-33BE3D7775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E1914-AF5E-4610-B8D9-A8FAB2066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6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6" Type="http://schemas.openxmlformats.org/officeDocument/2006/relationships/oleObject" Target="../embeddings/oleObject3.bin"/><Relationship Id="rId7" Type="http://schemas.openxmlformats.org/officeDocument/2006/relationships/image" Target="../media/image3.w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oleObject" Target="../embeddings/oleObject4.bin"/><Relationship Id="rId6" Type="http://schemas.openxmlformats.org/officeDocument/2006/relationships/image" Target="../media/image7.wmf"/><Relationship Id="rId7" Type="http://schemas.openxmlformats.org/officeDocument/2006/relationships/oleObject" Target="../embeddings/oleObject5.bin"/><Relationship Id="rId8" Type="http://schemas.openxmlformats.org/officeDocument/2006/relationships/image" Target="../media/image8.wmf"/><Relationship Id="rId9" Type="http://schemas.openxmlformats.org/officeDocument/2006/relationships/image" Target="../media/image9.png"/><Relationship Id="rId10" Type="http://schemas.openxmlformats.org/officeDocument/2006/relationships/image" Target="../media/image10.jpeg"/><Relationship Id="rId11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12.wmf"/><Relationship Id="rId4" Type="http://schemas.openxmlformats.org/officeDocument/2006/relationships/oleObject" Target="../embeddings/oleObject7.bin"/><Relationship Id="rId5" Type="http://schemas.openxmlformats.org/officeDocument/2006/relationships/image" Target="../media/image13.png"/><Relationship Id="rId6" Type="http://schemas.openxmlformats.org/officeDocument/2006/relationships/oleObject" Target="../embeddings/oleObject8.bin"/><Relationship Id="rId7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0F55-D6B4-4C58-DE75-0CB401F7C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138" y="1944360"/>
            <a:ext cx="10987724" cy="2969279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F963E-FB3D-FC15-2E85-35EF6FA5B7B9}"/>
              </a:ext>
            </a:extLst>
          </p:cNvPr>
          <p:cNvSpPr txBox="1"/>
          <p:nvPr/>
        </p:nvSpPr>
        <p:spPr>
          <a:xfrm>
            <a:off x="5624946" y="5454440"/>
            <a:ext cx="5779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Peerapat Tancharoen (67076075)</a:t>
            </a:r>
          </a:p>
          <a:p>
            <a:pPr algn="r"/>
            <a:r>
              <a:rPr lang="en-US" sz="2000" dirty="0"/>
              <a:t>Artificial Intelligence for Business Analytics</a:t>
            </a:r>
          </a:p>
        </p:txBody>
      </p:sp>
      <p:sp>
        <p:nvSpPr>
          <p:cNvPr id="3" name="Date Placeholder 18">
            <a:extLst>
              <a:ext uri="{FF2B5EF4-FFF2-40B4-BE49-F238E27FC236}">
                <a16:creationId xmlns:a16="http://schemas.microsoft.com/office/drawing/2014/main" id="{80DD4A81-3FFF-82CE-79C3-DAA962B9E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  <p:sp>
        <p:nvSpPr>
          <p:cNvPr id="5" name="Slide Number Placeholder 20">
            <a:extLst>
              <a:ext uri="{FF2B5EF4-FFF2-40B4-BE49-F238E27FC236}">
                <a16:creationId xmlns:a16="http://schemas.microsoft.com/office/drawing/2014/main" id="{0153C0A5-6619-B9AE-1548-0C216A387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1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875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B0E60-CC13-3F6C-FD30-4C29927C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DBD197-C24A-3E8A-2C73-49FE3E47E551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Improvement From Proposal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817FC8-327F-4B82-1523-79A08D4878D1}"/>
              </a:ext>
            </a:extLst>
          </p:cNvPr>
          <p:cNvSpPr txBox="1"/>
          <p:nvPr/>
        </p:nvSpPr>
        <p:spPr>
          <a:xfrm>
            <a:off x="632116" y="1831994"/>
            <a:ext cx="109277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dirty="0"/>
              <a:t>Add item clustering; consequents restricted to items only, giving 3 rule types:</a:t>
            </a:r>
          </a:p>
          <a:p>
            <a:pPr marL="914400" lvl="1" indent="-457200">
              <a:buFont typeface="Arial"/>
              <a:buChar char="•"/>
            </a:pPr>
            <a:r>
              <a:rPr lang="en-US" dirty="0"/>
              <a:t>Item → item</a:t>
            </a:r>
          </a:p>
          <a:p>
            <a:pPr marL="914400" lvl="1" indent="-457200">
              <a:buFont typeface="Arial"/>
              <a:buChar char="•"/>
            </a:pPr>
            <a:r>
              <a:rPr lang="en-US" dirty="0"/>
              <a:t>User cluster → item</a:t>
            </a:r>
          </a:p>
          <a:p>
            <a:pPr marL="914400" lvl="1" indent="-457200">
              <a:buFont typeface="Arial"/>
              <a:buChar char="•"/>
            </a:pPr>
            <a:r>
              <a:rPr lang="en-US" dirty="0"/>
              <a:t>Item-cluster presence → item</a:t>
            </a:r>
          </a:p>
          <a:p>
            <a:pPr marL="457200" indent="-457200">
              <a:buAutoNum type="arabicPeriod"/>
            </a:pPr>
            <a:r>
              <a:rPr lang="en-US" dirty="0"/>
              <a:t>Replace FP-growth with pairwise</a:t>
            </a:r>
            <a:r>
              <a:rPr lang="th-TH" dirty="0"/>
              <a:t> </a:t>
            </a:r>
            <a:r>
              <a:rPr lang="en-US" dirty="0"/>
              <a:t>ARM (faster; single-antecedent rules only, i.e., pairwise A→B).</a:t>
            </a:r>
          </a:p>
          <a:p>
            <a:pPr marL="457200" indent="-457200">
              <a:buAutoNum type="arabicPeriod"/>
            </a:pPr>
            <a:r>
              <a:rPr lang="en-US" dirty="0"/>
              <a:t>Switch solver from SGD to ALS (faster convergence).</a:t>
            </a:r>
          </a:p>
          <a:p>
            <a:pPr marL="457200" indent="-457200">
              <a:buAutoNum type="arabicPeriod"/>
            </a:pPr>
            <a:r>
              <a:rPr lang="en-US" dirty="0"/>
              <a:t>Improve test stability: 30 randomized search trials × 5 seeds, reported as mean ± SD.</a:t>
            </a:r>
          </a:p>
          <a:p>
            <a:pPr marL="457200" indent="-457200">
              <a:buFontTx/>
              <a:buAutoNum type="arabicPeriod"/>
            </a:pPr>
            <a:r>
              <a:rPr lang="en-US" dirty="0"/>
              <a:t>Segment user activity by positive training interactions: 1, 2, and 3+ (users with 0 positive interactions are out of the evaluated population).</a:t>
            </a:r>
          </a:p>
          <a:p>
            <a:pPr marL="457200" indent="-457200">
              <a:buAutoNum type="arabicPeriod"/>
            </a:pPr>
            <a:r>
              <a:rPr lang="en-US" dirty="0"/>
              <a:t>Added CoFactor-WMF (SPPMI co-occurrence) and </a:t>
            </a:r>
            <a:r>
              <a:rPr lang="en-US" dirty="0" err="1"/>
              <a:t>MostPop</a:t>
            </a:r>
            <a:r>
              <a:rPr lang="en-US" dirty="0"/>
              <a:t> (popular item) as baselines.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E46D02-7CC6-B4D5-4116-9BC078DF245A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44B9E2-3A64-3541-C130-CD86A0EFAD72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E78A49-A7C3-9732-C289-07C88678F7C6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879BA4-8C7E-F64C-7BBC-22896EC21C6F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7D7381-2C25-7930-7605-BC255F21D815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5BD34E-056B-045E-00A6-42A168BF0E7B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391C9C-683F-79E7-EBAC-EB8C960586DF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C73513-D411-81AA-14F3-78CA96ECBEC0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E01D23-4FB3-E64B-4705-C978F78AD08D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1E75A7-D78E-7335-CE1B-2787FAB47B2F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274EDD-84C0-664F-A968-C79C9D723103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3B63BD6-2FFA-779B-7EA3-D5C027622F0D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48CC26-6A54-EF1E-D007-066E752CC2AE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FC2FFE-C730-44B9-8D2A-6B01319C27B6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424F78-A2FD-E3BA-3807-DF2CA10831C0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2" name="Footer Placeholder 19">
            <a:extLst>
              <a:ext uri="{FF2B5EF4-FFF2-40B4-BE49-F238E27FC236}">
                <a16:creationId xmlns:a16="http://schemas.microsoft.com/office/drawing/2014/main" id="{5A323970-8335-F540-1056-3FFD2B57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3" name="Slide Number Placeholder 20">
            <a:extLst>
              <a:ext uri="{FF2B5EF4-FFF2-40B4-BE49-F238E27FC236}">
                <a16:creationId xmlns:a16="http://schemas.microsoft.com/office/drawing/2014/main" id="{B210E9B0-8C2D-4B3F-51CD-D298C4D39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2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18">
            <a:extLst>
              <a:ext uri="{FF2B5EF4-FFF2-40B4-BE49-F238E27FC236}">
                <a16:creationId xmlns:a16="http://schemas.microsoft.com/office/drawing/2014/main" id="{402D8F17-D845-D66E-ED9C-7F08C6D786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1544129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B0E60-CC13-3F6C-FD30-4C29927C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DBD197-C24A-3E8A-2C73-49FE3E47E551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Q&amp;A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817FC8-327F-4B82-1523-79A08D4878D1}"/>
              </a:ext>
            </a:extLst>
          </p:cNvPr>
          <p:cNvSpPr txBox="1"/>
          <p:nvPr/>
        </p:nvSpPr>
        <p:spPr>
          <a:xfrm>
            <a:off x="632116" y="1550000"/>
            <a:ext cx="10927768" cy="34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Q: Why are the results on the Amazon 5-rating datasets relatively low?</a:t>
            </a:r>
          </a:p>
          <a:p>
            <a:r>
              <a:rPr lang="en-US" b="1" dirty="0"/>
              <a:t>A: </a:t>
            </a:r>
            <a:r>
              <a:rPr lang="en-US" dirty="0"/>
              <a:t>All five datasets exceed 99.5% sparsity, so every model's absolute NDCG@10 sits in the low single-digit percent range — not just ours. What matters is relative performance: CPARMS-WMF wins 73/75 pairwise comparisons and leads every dataset at every cutoff.</a:t>
            </a:r>
          </a:p>
          <a:p/>
          <a:p>
            <a:r>
              <a:rPr lang="en-US" b="1" dirty="0"/>
              <a:t>Q: The literature review is limited and relies on relatively old studies.</a:t>
            </a:r>
          </a:p>
          <a:p>
            <a:r>
              <a:rPr lang="en-US" b="1" dirty="0"/>
              <a:t>A: </a:t>
            </a:r>
            <a:r>
              <a:rPr lang="en-US" dirty="0"/>
              <a:t>The framework combines five studies: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Leveraging Clustering to Improve Collaborative Filtering</a:t>
            </a:r>
            <a:r>
              <a:rPr lang="en-US" dirty="0"/>
              <a:t> (2016)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A Hybrid Recommendation System Based on Association Rules</a:t>
            </a:r>
            <a:r>
              <a:rPr lang="en-US" dirty="0"/>
              <a:t> (2015)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Improving the Accuracy of CF Recommendations Using Clustering and ARM on Implicit Data</a:t>
            </a:r>
            <a:r>
              <a:rPr lang="en-US" dirty="0"/>
              <a:t> (2017)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CFCAI: Improving CF for Cold-Start Issues with Clustering</a:t>
            </a:r>
            <a:r>
              <a:rPr lang="en-US" dirty="0"/>
              <a:t> (2025)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Factorization Meets the Item Embedding</a:t>
            </a:r>
            <a:r>
              <a:rPr lang="en-US" dirty="0"/>
              <a:t> (2016)</a:t>
            </a:r>
          </a:p>
          <a:p/>
          <a:p>
            <a:r>
              <a:rPr lang="en-US" dirty="0"/>
              <a:t>CPARMS-WMF combines one idea from each: group-level clustering (Mirbakhsh), directional ARM (Alsalama), clustering+ARM together (Najafabadi), cluster-level ARM for cold-start (Khaledian), and co-occurrence regularization in WMF (Liang). No prior work unifies clustering, ARM, and WMF in one model — that integration is our contribution.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E46D02-7CC6-B4D5-4116-9BC078DF245A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44B9E2-3A64-3541-C130-CD86A0EFAD72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E78A49-A7C3-9732-C289-07C88678F7C6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879BA4-8C7E-F64C-7BBC-22896EC21C6F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7D7381-2C25-7930-7605-BC255F21D815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5BD34E-056B-045E-00A6-42A168BF0E7B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391C9C-683F-79E7-EBAC-EB8C960586DF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C73513-D411-81AA-14F3-78CA96ECBEC0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E01D23-4FB3-E64B-4705-C978F78AD08D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1E75A7-D78E-7335-CE1B-2787FAB47B2F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274EDD-84C0-664F-A968-C79C9D723103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3B63BD6-2FFA-779B-7EA3-D5C027622F0D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48CC26-6A54-EF1E-D007-066E752CC2AE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FC2FFE-C730-44B9-8D2A-6B01319C27B6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424F78-A2FD-E3BA-3807-DF2CA10831C0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2" name="Footer Placeholder 19">
            <a:extLst>
              <a:ext uri="{FF2B5EF4-FFF2-40B4-BE49-F238E27FC236}">
                <a16:creationId xmlns:a16="http://schemas.microsoft.com/office/drawing/2014/main" id="{5A323970-8335-F540-1056-3FFD2B57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3" name="Slide Number Placeholder 20">
            <a:extLst>
              <a:ext uri="{FF2B5EF4-FFF2-40B4-BE49-F238E27FC236}">
                <a16:creationId xmlns:a16="http://schemas.microsoft.com/office/drawing/2014/main" id="{B210E9B0-8C2D-4B3F-51CD-D298C4D39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2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18">
            <a:extLst>
              <a:ext uri="{FF2B5EF4-FFF2-40B4-BE49-F238E27FC236}">
                <a16:creationId xmlns:a16="http://schemas.microsoft.com/office/drawing/2014/main" id="{402D8F17-D845-D66E-ED9C-7F08C6D786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1544129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gramBg">
            <a:extLst>
              <a:ext uri="{FF2B5EF4-FFF2-40B4-BE49-F238E27FC236}">
                <a16:creationId xmlns:a16="http://schemas.microsoft.com/office/drawing/2014/main" id="{09E37D02-B647-C348-68EF-98D24D05BFFC}"/>
              </a:ext>
            </a:extLst>
          </p:cNvPr>
          <p:cNvSpPr>
            <a:spLocks noGrp="1"/>
          </p:cNvSpPr>
          <p:nvPr/>
        </p:nvSpPr>
        <p:spPr>
          <a:xfrm>
            <a:off x="6661126" y="3085011"/>
            <a:ext cx="4870497" cy="3200876"/>
          </a:xfrm>
          <a:prstGeom prst="roundRect">
            <a:avLst>
              <a:gd name="adj" fmla="val 9678"/>
            </a:avLst>
          </a:prstGeom>
          <a:solidFill>
            <a:srgbClr val="F5F8FF"/>
          </a:solidFill>
          <a:ln w="19050">
            <a:solidFill>
              <a:srgbClr val="B0C4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3DA7CE-536E-99C8-F9DC-E0153D3DB370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1.1 What is Recommendation System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5DB86C-C7EF-FDF9-28C7-8960257AE8D8}"/>
              </a:ext>
            </a:extLst>
          </p:cNvPr>
          <p:cNvSpPr txBox="1"/>
          <p:nvPr/>
        </p:nvSpPr>
        <p:spPr>
          <a:xfrm>
            <a:off x="632116" y="1831994"/>
            <a:ext cx="54638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Recommendation System: </a:t>
            </a:r>
            <a:r>
              <a:rPr lang="en-US" sz="1600" dirty="0"/>
              <a:t>a core technology for digital platforms (e-commerce, streaming,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Why it matters: </a:t>
            </a:r>
            <a:r>
              <a:rPr lang="en-US" sz="1600" dirty="0"/>
              <a:t>tackles information overload by surfacing only the most relevant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How it works: </a:t>
            </a:r>
            <a:r>
              <a:rPr lang="en-US" sz="1600" dirty="0"/>
              <a:t>learns from users’ past behavior to personalize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Main types: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Knowledge-based: rules + domain knowledge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Content-based: similar item features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Collaborative filtering: </a:t>
            </a:r>
            <a:r>
              <a:rPr lang="en-US" sz="1600" dirty="0"/>
              <a:t>similar users’ behavior/ratings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Hybrid: combines methods for better accuracy</a:t>
            </a:r>
            <a:endParaRPr lang="th-TH" sz="1600" dirty="0"/>
          </a:p>
          <a:p>
            <a:pPr marL="800100" lvl="1" indent="-342900">
              <a:buFont typeface="+mj-lt"/>
              <a:buAutoNum type="arabicPeriod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This work focuses on Collaborative filtering, </a:t>
            </a:r>
            <a:r>
              <a:rPr lang="en-US" sz="1600" dirty="0"/>
              <a:t>using its most popular method — Matrix Factorization (MF)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428460-B905-AB63-9A97-20EA5BAEBEDD}"/>
              </a:ext>
            </a:extLst>
          </p:cNvPr>
          <p:cNvSpPr txBox="1"/>
          <p:nvPr/>
        </p:nvSpPr>
        <p:spPr>
          <a:xfrm>
            <a:off x="6096000" y="1831994"/>
            <a:ext cx="54638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Matrix Factorization (MF):</a:t>
            </a:r>
            <a:r>
              <a:rPr lang="en-US" sz="1600" dirty="0"/>
              <a:t> Decomposes the user-item rating matrix </a:t>
            </a:r>
            <a:r>
              <a:rPr lang="en-US" sz="1600" b="1" i="1" dirty="0"/>
              <a:t>Y</a:t>
            </a:r>
            <a:r>
              <a:rPr lang="en-US" sz="1600" dirty="0"/>
              <a:t> into two low-rank matrices </a:t>
            </a:r>
            <a:r>
              <a:rPr lang="en-US" sz="1600" b="1" i="1" dirty="0"/>
              <a:t>P</a:t>
            </a:r>
            <a:r>
              <a:rPr lang="en-US" sz="1600" dirty="0"/>
              <a:t> (users) and </a:t>
            </a:r>
            <a:r>
              <a:rPr lang="en-US" sz="1600" b="1" i="1" dirty="0"/>
              <a:t>Q</a:t>
            </a:r>
            <a:r>
              <a:rPr lang="en-US" sz="1600" dirty="0"/>
              <a:t> (items) in a shared latent space of dimension </a:t>
            </a:r>
            <a:r>
              <a:rPr lang="en-US" sz="1600" b="1" i="1" dirty="0"/>
              <a:t>k</a:t>
            </a:r>
            <a:r>
              <a:rPr lang="en-US" sz="1600" dirty="0"/>
              <a:t>, so that </a:t>
            </a:r>
            <a:r>
              <a:rPr lang="en-US" sz="1600" b="1" i="1" dirty="0"/>
              <a:t>Y ≈ P × Qᵀ</a:t>
            </a:r>
          </a:p>
        </p:txBody>
      </p:sp>
      <p:sp>
        <p:nvSpPr>
          <p:cNvPr id="100" name="MatY_bg"/>
          <p:cNvSpPr>
            <a:spLocks noGrp="1"/>
          </p:cNvSpPr>
          <p:nvPr/>
        </p:nvSpPr>
        <p:spPr>
          <a:xfrm>
            <a:off x="7084552" y="3706298"/>
            <a:ext cx="1143000" cy="1905000"/>
          </a:xfrm>
          <a:prstGeom prst="rect">
            <a:avLst/>
          </a:prstGeom>
          <a:solidFill>
            <a:srgbClr val="DDEEFF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endParaRPr/>
          </a:p>
        </p:txBody>
      </p:sp>
      <p:sp>
        <p:nvSpPr>
          <p:cNvPr id="101" name="MatY_cell_0_0"/>
          <p:cNvSpPr>
            <a:spLocks noGrp="1"/>
          </p:cNvSpPr>
          <p:nvPr/>
        </p:nvSpPr>
        <p:spPr>
          <a:xfrm>
            <a:off x="7084552" y="3706298"/>
            <a:ext cx="381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r>
              <a:rPr lang="en-US" sz="1200" b="0" dirty="0">
                <a:solidFill>
                  <a:srgbClr val="444444"/>
                </a:solidFill>
              </a:rPr>
              <a:t>?</a:t>
            </a:r>
          </a:p>
        </p:txBody>
      </p:sp>
      <p:sp>
        <p:nvSpPr>
          <p:cNvPr id="102" name="MatY_cell_0_1"/>
          <p:cNvSpPr>
            <a:spLocks noGrp="1"/>
          </p:cNvSpPr>
          <p:nvPr/>
        </p:nvSpPr>
        <p:spPr>
          <a:xfrm>
            <a:off x="7465552" y="3706298"/>
            <a:ext cx="381000" cy="635000"/>
          </a:xfrm>
          <a:prstGeom prst="rect">
            <a:avLst/>
          </a:prstGeom>
          <a:solidFill>
            <a:srgbClr val="E8F0FF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r>
              <a:rPr lang="en-US" sz="1300" dirty="0">
                <a:solidFill>
                  <a:srgbClr val="444444"/>
                </a:solidFill>
              </a:rPr>
              <a:t>?</a:t>
            </a:r>
            <a:endParaRPr sz="1300" dirty="0"/>
          </a:p>
        </p:txBody>
      </p:sp>
      <p:sp>
        <p:nvSpPr>
          <p:cNvPr id="103" name="MatY_cell_0_2"/>
          <p:cNvSpPr>
            <a:spLocks noGrp="1"/>
          </p:cNvSpPr>
          <p:nvPr/>
        </p:nvSpPr>
        <p:spPr>
          <a:xfrm>
            <a:off x="7846552" y="3706298"/>
            <a:ext cx="381000" cy="635000"/>
          </a:xfrm>
          <a:prstGeom prst="rect">
            <a:avLst/>
          </a:prstGeom>
          <a:solidFill>
            <a:srgbClr val="D0E4FF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r>
              <a:rPr lang="en-US" sz="1200" b="0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104" name="MatY_cell_1_0"/>
          <p:cNvSpPr>
            <a:spLocks noGrp="1"/>
          </p:cNvSpPr>
          <p:nvPr/>
        </p:nvSpPr>
        <p:spPr>
          <a:xfrm>
            <a:off x="7084552" y="4341298"/>
            <a:ext cx="381000" cy="635000"/>
          </a:xfrm>
          <a:prstGeom prst="rect">
            <a:avLst/>
          </a:prstGeom>
          <a:solidFill>
            <a:srgbClr val="E8F0FF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r>
              <a:rPr lang="en-US" sz="1300" dirty="0">
                <a:solidFill>
                  <a:srgbClr val="444444"/>
                </a:solidFill>
              </a:rPr>
              <a:t>?</a:t>
            </a:r>
            <a:endParaRPr sz="1300" dirty="0"/>
          </a:p>
        </p:txBody>
      </p:sp>
      <p:sp>
        <p:nvSpPr>
          <p:cNvPr id="105" name="MatY_cell_1_1"/>
          <p:cNvSpPr>
            <a:spLocks noGrp="1"/>
          </p:cNvSpPr>
          <p:nvPr/>
        </p:nvSpPr>
        <p:spPr>
          <a:xfrm>
            <a:off x="7465552" y="4341298"/>
            <a:ext cx="381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r>
              <a:rPr lang="en-US" sz="1200" b="0" dirty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106" name="MatY_cell_1_2"/>
          <p:cNvSpPr>
            <a:spLocks noGrp="1"/>
          </p:cNvSpPr>
          <p:nvPr/>
        </p:nvSpPr>
        <p:spPr>
          <a:xfrm>
            <a:off x="7846552" y="4341298"/>
            <a:ext cx="381000" cy="635000"/>
          </a:xfrm>
          <a:prstGeom prst="rect">
            <a:avLst/>
          </a:prstGeom>
          <a:solidFill>
            <a:srgbClr val="E8F0FF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r>
              <a:rPr lang="en-US" sz="1300" dirty="0">
                <a:solidFill>
                  <a:srgbClr val="444444"/>
                </a:solidFill>
              </a:rPr>
              <a:t>?</a:t>
            </a:r>
            <a:endParaRPr sz="1300" dirty="0"/>
          </a:p>
        </p:txBody>
      </p:sp>
      <p:sp>
        <p:nvSpPr>
          <p:cNvPr id="107" name="MatY_cell_2_0"/>
          <p:cNvSpPr>
            <a:spLocks noGrp="1"/>
          </p:cNvSpPr>
          <p:nvPr/>
        </p:nvSpPr>
        <p:spPr>
          <a:xfrm>
            <a:off x="7084552" y="4976298"/>
            <a:ext cx="381000" cy="635000"/>
          </a:xfrm>
          <a:prstGeom prst="rect">
            <a:avLst/>
          </a:prstGeom>
          <a:solidFill>
            <a:srgbClr val="D0E4FF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r>
              <a:rPr lang="en-US" sz="1200" b="0" dirty="0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108" name="MatY_cell_2_1"/>
          <p:cNvSpPr>
            <a:spLocks noGrp="1"/>
          </p:cNvSpPr>
          <p:nvPr/>
        </p:nvSpPr>
        <p:spPr>
          <a:xfrm>
            <a:off x="7465552" y="4976298"/>
            <a:ext cx="381000" cy="635000"/>
          </a:xfrm>
          <a:prstGeom prst="rect">
            <a:avLst/>
          </a:prstGeom>
          <a:solidFill>
            <a:srgbClr val="E8F0FF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r>
              <a:rPr lang="en-US" sz="1300" dirty="0">
                <a:solidFill>
                  <a:srgbClr val="444444"/>
                </a:solidFill>
              </a:rPr>
              <a:t>?</a:t>
            </a:r>
            <a:endParaRPr sz="1300" dirty="0"/>
          </a:p>
        </p:txBody>
      </p:sp>
      <p:sp>
        <p:nvSpPr>
          <p:cNvPr id="109" name="MatY_cell_2_2"/>
          <p:cNvSpPr>
            <a:spLocks noGrp="1"/>
          </p:cNvSpPr>
          <p:nvPr/>
        </p:nvSpPr>
        <p:spPr>
          <a:xfrm>
            <a:off x="7846552" y="4976298"/>
            <a:ext cx="381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r>
              <a:rPr lang="en-US" sz="1300" dirty="0">
                <a:solidFill>
                  <a:srgbClr val="444444"/>
                </a:solidFill>
              </a:rPr>
              <a:t>?</a:t>
            </a:r>
            <a:endParaRPr sz="1300" dirty="0"/>
          </a:p>
        </p:txBody>
      </p:sp>
      <p:sp>
        <p:nvSpPr>
          <p:cNvPr id="110" name="LabelY"/>
          <p:cNvSpPr txBox="1">
            <a:spLocks noGrp="1" noRot="1"/>
          </p:cNvSpPr>
          <p:nvPr/>
        </p:nvSpPr>
        <p:spPr>
          <a:xfrm>
            <a:off x="7338552" y="3490398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800" b="1" i="1" dirty="0">
                <a:solidFill>
                  <a:srgbClr val="1F3864"/>
                </a:solidFill>
              </a:rPr>
              <a:t>Y</a:t>
            </a:r>
          </a:p>
        </p:txBody>
      </p:sp>
      <p:sp>
        <p:nvSpPr>
          <p:cNvPr id="111" name="LabelYrows"/>
          <p:cNvSpPr txBox="1">
            <a:spLocks noGrp="1" noRot="1"/>
          </p:cNvSpPr>
          <p:nvPr/>
        </p:nvSpPr>
        <p:spPr>
          <a:xfrm>
            <a:off x="6855952" y="4214298"/>
            <a:ext cx="254000" cy="381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200" b="0" i="1" dirty="0">
                <a:solidFill>
                  <a:srgbClr val="555555"/>
                </a:solidFill>
              </a:rPr>
              <a:t>u</a:t>
            </a:r>
          </a:p>
        </p:txBody>
      </p:sp>
      <p:sp>
        <p:nvSpPr>
          <p:cNvPr id="112" name="LabelYcols"/>
          <p:cNvSpPr txBox="1">
            <a:spLocks noGrp="1" noRot="1"/>
          </p:cNvSpPr>
          <p:nvPr/>
        </p:nvSpPr>
        <p:spPr>
          <a:xfrm>
            <a:off x="7338552" y="5636698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200" b="0" i="1" dirty="0">
                <a:solidFill>
                  <a:srgbClr val="555555"/>
                </a:solidFill>
              </a:rPr>
              <a:t>i</a:t>
            </a:r>
          </a:p>
        </p:txBody>
      </p:sp>
      <p:sp>
        <p:nvSpPr>
          <p:cNvPr id="115" name="LabelApprox"/>
          <p:cNvSpPr txBox="1">
            <a:spLocks noGrp="1" noRot="1"/>
          </p:cNvSpPr>
          <p:nvPr/>
        </p:nvSpPr>
        <p:spPr>
          <a:xfrm>
            <a:off x="8316452" y="4341298"/>
            <a:ext cx="381000" cy="508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2400" b="1" i="0" dirty="0">
                <a:solidFill>
                  <a:srgbClr val="333333"/>
                </a:solidFill>
              </a:rPr>
              <a:t>≈</a:t>
            </a:r>
          </a:p>
        </p:txBody>
      </p:sp>
      <p:sp>
        <p:nvSpPr>
          <p:cNvPr id="120" name="MatP_bg"/>
          <p:cNvSpPr>
            <a:spLocks noGrp="1"/>
          </p:cNvSpPr>
          <p:nvPr/>
        </p:nvSpPr>
        <p:spPr>
          <a:xfrm>
            <a:off x="8760952" y="3706298"/>
            <a:ext cx="825500" cy="1905000"/>
          </a:xfrm>
          <a:prstGeom prst="rect">
            <a:avLst/>
          </a:prstGeom>
          <a:solidFill>
            <a:srgbClr val="FFEEDD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endParaRPr/>
          </a:p>
        </p:txBody>
      </p:sp>
      <p:sp>
        <p:nvSpPr>
          <p:cNvPr id="121" name="MatP_cell_0_0"/>
          <p:cNvSpPr>
            <a:spLocks noGrp="1"/>
          </p:cNvSpPr>
          <p:nvPr/>
        </p:nvSpPr>
        <p:spPr>
          <a:xfrm>
            <a:off x="8760952" y="3706298"/>
            <a:ext cx="419100" cy="635000"/>
          </a:xfrm>
          <a:prstGeom prst="rect">
            <a:avLst/>
          </a:prstGeom>
          <a:solidFill>
            <a:srgbClr val="FFD6B0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endParaRPr/>
          </a:p>
        </p:txBody>
      </p:sp>
      <p:sp>
        <p:nvSpPr>
          <p:cNvPr id="122" name="MatP_cell_0_1"/>
          <p:cNvSpPr>
            <a:spLocks noGrp="1"/>
          </p:cNvSpPr>
          <p:nvPr/>
        </p:nvSpPr>
        <p:spPr>
          <a:xfrm>
            <a:off x="9167352" y="3706298"/>
            <a:ext cx="419100" cy="635000"/>
          </a:xfrm>
          <a:prstGeom prst="rect">
            <a:avLst/>
          </a:prstGeom>
          <a:solidFill>
            <a:srgbClr val="FFEEDD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endParaRPr/>
          </a:p>
        </p:txBody>
      </p:sp>
      <p:sp>
        <p:nvSpPr>
          <p:cNvPr id="123" name="MatP_cell_1_0"/>
          <p:cNvSpPr>
            <a:spLocks noGrp="1"/>
          </p:cNvSpPr>
          <p:nvPr/>
        </p:nvSpPr>
        <p:spPr>
          <a:xfrm>
            <a:off x="8760952" y="4341298"/>
            <a:ext cx="419100" cy="635000"/>
          </a:xfrm>
          <a:prstGeom prst="rect">
            <a:avLst/>
          </a:prstGeom>
          <a:solidFill>
            <a:srgbClr val="FFD6B0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endParaRPr/>
          </a:p>
        </p:txBody>
      </p:sp>
      <p:sp>
        <p:nvSpPr>
          <p:cNvPr id="124" name="MatP_cell_1_1"/>
          <p:cNvSpPr>
            <a:spLocks noGrp="1"/>
          </p:cNvSpPr>
          <p:nvPr/>
        </p:nvSpPr>
        <p:spPr>
          <a:xfrm>
            <a:off x="9167352" y="4341298"/>
            <a:ext cx="419100" cy="635000"/>
          </a:xfrm>
          <a:prstGeom prst="rect">
            <a:avLst/>
          </a:prstGeom>
          <a:solidFill>
            <a:srgbClr val="FFEEDD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endParaRPr/>
          </a:p>
        </p:txBody>
      </p:sp>
      <p:sp>
        <p:nvSpPr>
          <p:cNvPr id="125" name="MatP_cell_2_0"/>
          <p:cNvSpPr>
            <a:spLocks noGrp="1"/>
          </p:cNvSpPr>
          <p:nvPr/>
        </p:nvSpPr>
        <p:spPr>
          <a:xfrm>
            <a:off x="8760952" y="4976298"/>
            <a:ext cx="419100" cy="635000"/>
          </a:xfrm>
          <a:prstGeom prst="rect">
            <a:avLst/>
          </a:prstGeom>
          <a:solidFill>
            <a:srgbClr val="FFD6B0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endParaRPr/>
          </a:p>
        </p:txBody>
      </p:sp>
      <p:sp>
        <p:nvSpPr>
          <p:cNvPr id="126" name="MatP_cell_2_1"/>
          <p:cNvSpPr>
            <a:spLocks noGrp="1"/>
          </p:cNvSpPr>
          <p:nvPr/>
        </p:nvSpPr>
        <p:spPr>
          <a:xfrm>
            <a:off x="9167352" y="4976298"/>
            <a:ext cx="419100" cy="635000"/>
          </a:xfrm>
          <a:prstGeom prst="rect">
            <a:avLst/>
          </a:prstGeom>
          <a:solidFill>
            <a:srgbClr val="FFEEDD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endParaRPr/>
          </a:p>
        </p:txBody>
      </p:sp>
      <p:sp>
        <p:nvSpPr>
          <p:cNvPr id="130" name="LabelP"/>
          <p:cNvSpPr txBox="1">
            <a:spLocks noGrp="1" noRot="1"/>
          </p:cNvSpPr>
          <p:nvPr/>
        </p:nvSpPr>
        <p:spPr>
          <a:xfrm>
            <a:off x="8926052" y="3490398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800" b="1" i="1" dirty="0">
                <a:solidFill>
                  <a:srgbClr val="9E3A00"/>
                </a:solidFill>
              </a:rPr>
              <a:t>P</a:t>
            </a:r>
          </a:p>
        </p:txBody>
      </p:sp>
      <p:sp>
        <p:nvSpPr>
          <p:cNvPr id="131" name="LabelPu"/>
          <p:cNvSpPr txBox="1">
            <a:spLocks noGrp="1" noRot="1"/>
          </p:cNvSpPr>
          <p:nvPr/>
        </p:nvSpPr>
        <p:spPr>
          <a:xfrm>
            <a:off x="8532352" y="4214298"/>
            <a:ext cx="254000" cy="381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200" b="0" i="1" dirty="0">
                <a:solidFill>
                  <a:srgbClr val="555555"/>
                </a:solidFill>
              </a:rPr>
              <a:t>u</a:t>
            </a:r>
          </a:p>
        </p:txBody>
      </p:sp>
      <p:sp>
        <p:nvSpPr>
          <p:cNvPr id="132" name="LabelPk"/>
          <p:cNvSpPr txBox="1">
            <a:spLocks noGrp="1" noRot="1"/>
          </p:cNvSpPr>
          <p:nvPr/>
        </p:nvSpPr>
        <p:spPr>
          <a:xfrm>
            <a:off x="8938752" y="5636698"/>
            <a:ext cx="635000" cy="2286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200" b="0" i="1" dirty="0">
                <a:solidFill>
                  <a:srgbClr val="555555"/>
                </a:solidFill>
              </a:rPr>
              <a:t>k</a:t>
            </a:r>
          </a:p>
        </p:txBody>
      </p:sp>
      <p:sp>
        <p:nvSpPr>
          <p:cNvPr id="133" name="LabelPuVec"/>
          <p:cNvSpPr txBox="1">
            <a:spLocks noGrp="1" noRot="1"/>
          </p:cNvSpPr>
          <p:nvPr/>
        </p:nvSpPr>
        <p:spPr>
          <a:xfrm>
            <a:off x="8760952" y="3731698"/>
            <a:ext cx="825500" cy="6096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300" b="1" i="0" dirty="0">
                <a:solidFill>
                  <a:srgbClr val="C55A00"/>
                </a:solidFill>
              </a:rPr>
              <a:t>pᵤ</a:t>
            </a:r>
          </a:p>
        </p:txBody>
      </p:sp>
      <p:sp>
        <p:nvSpPr>
          <p:cNvPr id="136" name="LabelTimes"/>
          <p:cNvSpPr txBox="1">
            <a:spLocks noGrp="1" noRot="1"/>
          </p:cNvSpPr>
          <p:nvPr/>
        </p:nvSpPr>
        <p:spPr>
          <a:xfrm>
            <a:off x="9649952" y="4341298"/>
            <a:ext cx="381000" cy="508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2400" b="1" i="0" dirty="0">
                <a:solidFill>
                  <a:srgbClr val="333333"/>
                </a:solidFill>
              </a:rPr>
              <a:t>×</a:t>
            </a:r>
          </a:p>
        </p:txBody>
      </p:sp>
      <p:sp>
        <p:nvSpPr>
          <p:cNvPr id="140" name="MatQ_bg"/>
          <p:cNvSpPr>
            <a:spLocks noGrp="1"/>
          </p:cNvSpPr>
          <p:nvPr/>
        </p:nvSpPr>
        <p:spPr>
          <a:xfrm>
            <a:off x="10056352" y="3706298"/>
            <a:ext cx="1143000" cy="825500"/>
          </a:xfrm>
          <a:prstGeom prst="rect">
            <a:avLst/>
          </a:prstGeom>
          <a:solidFill>
            <a:srgbClr val="EEFFEE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endParaRPr/>
          </a:p>
        </p:txBody>
      </p:sp>
      <p:sp>
        <p:nvSpPr>
          <p:cNvPr id="141" name="MatQ_cell_0_0"/>
          <p:cNvSpPr>
            <a:spLocks noGrp="1"/>
          </p:cNvSpPr>
          <p:nvPr/>
        </p:nvSpPr>
        <p:spPr>
          <a:xfrm>
            <a:off x="10056352" y="3706298"/>
            <a:ext cx="381000" cy="419100"/>
          </a:xfrm>
          <a:prstGeom prst="rect">
            <a:avLst/>
          </a:prstGeom>
          <a:solidFill>
            <a:srgbClr val="B8EEB8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endParaRPr/>
          </a:p>
        </p:txBody>
      </p:sp>
      <p:sp>
        <p:nvSpPr>
          <p:cNvPr id="142" name="MatQ_cell_0_1"/>
          <p:cNvSpPr>
            <a:spLocks noGrp="1"/>
          </p:cNvSpPr>
          <p:nvPr/>
        </p:nvSpPr>
        <p:spPr>
          <a:xfrm>
            <a:off x="10437352" y="3706298"/>
            <a:ext cx="381000" cy="419100"/>
          </a:xfrm>
          <a:prstGeom prst="rect">
            <a:avLst/>
          </a:prstGeom>
          <a:solidFill>
            <a:srgbClr val="EEFFEE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endParaRPr/>
          </a:p>
        </p:txBody>
      </p:sp>
      <p:sp>
        <p:nvSpPr>
          <p:cNvPr id="143" name="MatQ_cell_0_2"/>
          <p:cNvSpPr>
            <a:spLocks noGrp="1"/>
          </p:cNvSpPr>
          <p:nvPr/>
        </p:nvSpPr>
        <p:spPr>
          <a:xfrm>
            <a:off x="10818352" y="3706298"/>
            <a:ext cx="381000" cy="419100"/>
          </a:xfrm>
          <a:prstGeom prst="rect">
            <a:avLst/>
          </a:prstGeom>
          <a:solidFill>
            <a:srgbClr val="EEFFEE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endParaRPr/>
          </a:p>
        </p:txBody>
      </p:sp>
      <p:sp>
        <p:nvSpPr>
          <p:cNvPr id="144" name="MatQ_cell_1_0"/>
          <p:cNvSpPr>
            <a:spLocks noGrp="1"/>
          </p:cNvSpPr>
          <p:nvPr/>
        </p:nvSpPr>
        <p:spPr>
          <a:xfrm>
            <a:off x="10056352" y="4112698"/>
            <a:ext cx="381000" cy="419100"/>
          </a:xfrm>
          <a:prstGeom prst="rect">
            <a:avLst/>
          </a:prstGeom>
          <a:solidFill>
            <a:srgbClr val="B8EEB8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endParaRPr/>
          </a:p>
        </p:txBody>
      </p:sp>
      <p:sp>
        <p:nvSpPr>
          <p:cNvPr id="145" name="MatQ_cell_1_1"/>
          <p:cNvSpPr>
            <a:spLocks noGrp="1"/>
          </p:cNvSpPr>
          <p:nvPr/>
        </p:nvSpPr>
        <p:spPr>
          <a:xfrm>
            <a:off x="10437352" y="4112698"/>
            <a:ext cx="381000" cy="419100"/>
          </a:xfrm>
          <a:prstGeom prst="rect">
            <a:avLst/>
          </a:prstGeom>
          <a:solidFill>
            <a:srgbClr val="B8EEB8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endParaRPr/>
          </a:p>
        </p:txBody>
      </p:sp>
      <p:sp>
        <p:nvSpPr>
          <p:cNvPr id="146" name="MatQ_cell_1_2"/>
          <p:cNvSpPr>
            <a:spLocks noGrp="1"/>
          </p:cNvSpPr>
          <p:nvPr/>
        </p:nvSpPr>
        <p:spPr>
          <a:xfrm>
            <a:off x="10818352" y="4112698"/>
            <a:ext cx="381000" cy="419100"/>
          </a:xfrm>
          <a:prstGeom prst="rect">
            <a:avLst/>
          </a:prstGeom>
          <a:solidFill>
            <a:srgbClr val="EEFFEE"/>
          </a:solidFill>
          <a:ln w="12700">
            <a:solidFill>
              <a:srgbClr val="555555"/>
            </a:solidFill>
          </a:ln>
        </p:spPr>
        <p:txBody>
          <a:bodyPr wrap="none" anchor="ctr" anchorCtr="1">
            <a:normAutofit/>
          </a:bodyPr>
          <a:lstStyle/>
          <a:p>
            <a:pPr algn="ctr"/>
            <a:endParaRPr/>
          </a:p>
        </p:txBody>
      </p:sp>
      <p:sp>
        <p:nvSpPr>
          <p:cNvPr id="150" name="LabelQ"/>
          <p:cNvSpPr txBox="1">
            <a:spLocks noGrp="1" noRot="1"/>
          </p:cNvSpPr>
          <p:nvPr/>
        </p:nvSpPr>
        <p:spPr>
          <a:xfrm>
            <a:off x="10348452" y="3490398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800" b="1" i="1" dirty="0">
                <a:solidFill>
                  <a:srgbClr val="1A5E1A"/>
                </a:solidFill>
              </a:rPr>
              <a:t>Qᵀ</a:t>
            </a:r>
          </a:p>
        </p:txBody>
      </p:sp>
      <p:sp>
        <p:nvSpPr>
          <p:cNvPr id="151" name="LabelQk"/>
          <p:cNvSpPr txBox="1">
            <a:spLocks noGrp="1" noRot="1"/>
          </p:cNvSpPr>
          <p:nvPr/>
        </p:nvSpPr>
        <p:spPr>
          <a:xfrm>
            <a:off x="9827752" y="3807898"/>
            <a:ext cx="254000" cy="381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200" b="0" i="1" dirty="0">
                <a:solidFill>
                  <a:srgbClr val="555555"/>
                </a:solidFill>
              </a:rPr>
              <a:t>k</a:t>
            </a:r>
          </a:p>
        </p:txBody>
      </p:sp>
      <p:sp>
        <p:nvSpPr>
          <p:cNvPr id="152" name="LabelQi"/>
          <p:cNvSpPr txBox="1">
            <a:spLocks noGrp="1" noRot="1"/>
          </p:cNvSpPr>
          <p:nvPr/>
        </p:nvSpPr>
        <p:spPr>
          <a:xfrm>
            <a:off x="10361152" y="4569898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200" b="0" i="1" dirty="0">
                <a:solidFill>
                  <a:srgbClr val="555555"/>
                </a:solidFill>
              </a:rPr>
              <a:t>i</a:t>
            </a:r>
          </a:p>
        </p:txBody>
      </p:sp>
      <p:sp>
        <p:nvSpPr>
          <p:cNvPr id="153" name="LabelQiVec"/>
          <p:cNvSpPr txBox="1">
            <a:spLocks noGrp="1" noRot="1"/>
          </p:cNvSpPr>
          <p:nvPr/>
        </p:nvSpPr>
        <p:spPr>
          <a:xfrm>
            <a:off x="10056352" y="3706298"/>
            <a:ext cx="355600" cy="8255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300" b="1" i="0" dirty="0">
                <a:solidFill>
                  <a:srgbClr val="1A5E1A"/>
                </a:solidFill>
              </a:rPr>
              <a:t>qᵢ</a:t>
            </a:r>
          </a:p>
        </p:txBody>
      </p:sp>
      <p:sp>
        <p:nvSpPr>
          <p:cNvPr id="160" name="EqLabel"/>
          <p:cNvSpPr txBox="1">
            <a:spLocks noGrp="1" noRot="1"/>
          </p:cNvSpPr>
          <p:nvPr/>
        </p:nvSpPr>
        <p:spPr>
          <a:xfrm>
            <a:off x="7084552" y="5839898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300" b="0" i="0" dirty="0">
                <a:solidFill>
                  <a:srgbClr val="333333"/>
                </a:solidFill>
              </a:rPr>
              <a:t>Ŷᵤᵢ = pᵤ · qᵢ   (predicted rating of user u for item i)</a:t>
            </a:r>
          </a:p>
        </p:txBody>
      </p:sp>
      <p:sp>
        <p:nvSpPr>
          <p:cNvPr id="161" name="DiagramTitle"/>
          <p:cNvSpPr txBox="1">
            <a:spLocks noGrp="1" noRot="1"/>
          </p:cNvSpPr>
          <p:nvPr/>
        </p:nvSpPr>
        <p:spPr>
          <a:xfrm>
            <a:off x="7084552" y="3274498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400" b="1" i="0" dirty="0">
                <a:solidFill>
                  <a:srgbClr val="1F3864"/>
                </a:solidFill>
              </a:rPr>
              <a:t>Matrix Factorization: Y ≈ P × Qᵀ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856617-1422-0A65-6C55-9C3E133D2CBB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1F2290-DB0D-A1AD-4C44-0F3C278EBD23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92EFA9-E1B3-3A08-9E93-FEFB551F7D8C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A6F32E-98A3-1DCD-F055-4677CB041163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FB4B41-F168-25B2-C653-A4C1A5BF2F80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7A1BF2-E90B-BE20-47EB-5C5631486E22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324261-C16E-C4DB-8EE0-A73429D66E3B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3D6B8A-0275-5CDD-9351-C824B25E546E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46682F-3826-F8FF-3BB0-7C91088134FA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E0FE3A-56B6-0E36-816B-7E5CC1506F77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108275-6E89-65B0-65A8-1B46EA45CD11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83BF888-913E-FE36-7B89-C544E05BF4C3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5A16D6-2B2A-EA23-08AC-A066FDB954F9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EF5C1DD-89C0-15C7-A79A-F6EF23D5353D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24C649-6CFC-1D25-0B0A-EBE555E568D0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2" name="Footer Placeholder 19">
            <a:extLst>
              <a:ext uri="{FF2B5EF4-FFF2-40B4-BE49-F238E27FC236}">
                <a16:creationId xmlns:a16="http://schemas.microsoft.com/office/drawing/2014/main" id="{A65F9198-EA47-74B8-B43F-98863E18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3" name="Slide Number Placeholder 20">
            <a:extLst>
              <a:ext uri="{FF2B5EF4-FFF2-40B4-BE49-F238E27FC236}">
                <a16:creationId xmlns:a16="http://schemas.microsoft.com/office/drawing/2014/main" id="{8AE70173-416A-A7B3-71F9-41DC2C722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3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18">
            <a:extLst>
              <a:ext uri="{FF2B5EF4-FFF2-40B4-BE49-F238E27FC236}">
                <a16:creationId xmlns:a16="http://schemas.microsoft.com/office/drawing/2014/main" id="{9171522E-DEA5-B971-FAF5-F1DB5198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2522499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7704-79AA-5DC2-482E-B0A4D1672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7D8DCE24-7800-CBF5-39DC-8BAC18A423D7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1.2 Problem &amp; Research Gap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A217F-A474-D1CC-D4A6-A604E56F951A}"/>
              </a:ext>
            </a:extLst>
          </p:cNvPr>
          <p:cNvSpPr txBox="1"/>
          <p:nvPr/>
        </p:nvSpPr>
        <p:spPr>
          <a:xfrm>
            <a:off x="632116" y="1831994"/>
            <a:ext cx="10340684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MF (the CF workhorse from 1.1) works well with rich data, but faces </a:t>
            </a:r>
            <a:r>
              <a:rPr lang="en-US" sz="1600" b="1" dirty="0"/>
              <a:t>one critical challenge</a:t>
            </a:r>
            <a:r>
              <a:rPr lang="en-US" sz="1600" dirty="0"/>
              <a:t>: data sparsity, which worsens as user history shrinks.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Data sparsity: </a:t>
            </a:r>
            <a:r>
              <a:rPr lang="en-US" sz="1600" dirty="0"/>
              <a:t>matrix </a:t>
            </a:r>
            <a:r>
              <a:rPr lang="en-US" sz="1600" b="1" i="1" dirty="0"/>
              <a:t>Y</a:t>
            </a:r>
            <a:r>
              <a:rPr lang="en-US" sz="1600" dirty="0"/>
              <a:t> is mostly empty (Amazon: &lt;0.5% observed), leaving </a:t>
            </a:r>
            <a:r>
              <a:rPr lang="en-US" sz="1600" b="1" dirty="0"/>
              <a:t>too little signal</a:t>
            </a:r>
            <a:r>
              <a:rPr lang="en-US" sz="1600" dirty="0"/>
              <a:t> to learn reliable latent factors </a:t>
            </a:r>
            <a:r>
              <a:rPr lang="en-US" sz="1600" b="1" i="1" dirty="0"/>
              <a:t>p</a:t>
            </a:r>
            <a:r>
              <a:rPr lang="en-US" sz="1100" b="1" i="1" baseline="-25000" dirty="0"/>
              <a:t>u</a:t>
            </a:r>
            <a:r>
              <a:rPr lang="en-US" sz="1600" dirty="0"/>
              <a:t> and </a:t>
            </a:r>
            <a:r>
              <a:rPr lang="en-US" sz="1600" b="1" i="1" dirty="0"/>
              <a:t>q</a:t>
            </a:r>
            <a:r>
              <a:rPr lang="en-US" sz="1100" b="1" i="1" baseline="-25000" dirty="0"/>
              <a:t>i</a:t>
            </a:r>
            <a:r>
              <a:rPr lang="en-US" sz="1600" dirty="0"/>
              <a:t>, causing overfitting and noisy recommendations.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b="1" dirty="0"/>
              <a:t>Sparse history: </a:t>
            </a:r>
            <a:r>
              <a:rPr lang="en-US" sz="1600" b="0" dirty="0"/>
              <a:t>one or a few interactions give MF too little evidence for a reliable latent vector; the problem worsens as sparsity increases.</a:t>
            </a:r>
          </a:p>
          <a:p>
            <a:pPr marL="1200150" lvl="2" indent="-285750">
              <a:buFont typeface="Arial" panose="020B0604020202020204" pitchFamily="34" charset="0"/>
              <a:buChar char="–"/>
            </a:pPr>
            <a:r>
              <a:rPr lang="en-US" sz="1500" b="1" dirty="0"/>
              <a:t>Extreme sparse-history users — our focus: </a:t>
            </a:r>
            <a:r>
              <a:rPr lang="en-US" sz="1500" b="0" dirty="0"/>
              <a:t>users with exactly one positive training interaction. Users with zero positive interactions have no learnable signal and are excluded from evaluation.</a:t>
            </a:r>
          </a:p>
          <a:p>
            <a:pPr marL="1200150" lvl="2" indent="-285750">
              <a:buFont typeface="Arial" panose="020B0604020202020204" pitchFamily="34" charset="0"/>
              <a:buChar char="–"/>
            </a:pPr>
            <a:r>
              <a:rPr lang="en-US" sz="1500" b="1" dirty="0"/>
              <a:t>Two and three-or-more interactions: </a:t>
            </a:r>
            <a:r>
              <a:rPr lang="en-US" sz="1500" b="0" dirty="0"/>
              <a:t>reported separately, since personalized evidence strengthens as history grows.</a:t>
            </a:r>
            <a:endParaRPr lang="th-TH" sz="1500" dirty="0"/>
          </a:p>
          <a:p>
            <a:pPr marL="1200150" lvl="2" indent="-285750">
              <a:buFont typeface="Arial" panose="020B0604020202020204" pitchFamily="34" charset="0"/>
              <a:buChar char="–"/>
            </a:pPr>
            <a:endParaRPr lang="th-TH" sz="1500" dirty="0"/>
          </a:p>
          <a:p>
            <a:pPr marL="1200150" lvl="2" indent="-285750">
              <a:buFont typeface="Arial" panose="020B0604020202020204" pitchFamily="34" charset="0"/>
              <a:buChar char="–"/>
            </a:pP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Common solution: </a:t>
            </a:r>
            <a:r>
              <a:rPr lang="en-US" sz="1600" dirty="0"/>
              <a:t>hybrid methods inject side features (demographics, profiles, content) — but these are often missing, incomplete, or privacy-restricted.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Research gap → </a:t>
            </a:r>
            <a:r>
              <a:rPr lang="en-US" sz="1600" b="0" dirty="0"/>
              <a:t>can interaction-derived evidence alone improve ranking for sparse, nonempty histories — without side information?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34C7144-A215-D04B-9E30-F4B7E53E54D0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3406634-9624-1AA4-ED4C-76BF1726B916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814A19-35CB-BE01-DAFE-F4DB80C20A59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8545186-D1B5-9ABE-C0E2-989D97E2FE65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42A2F5-418E-3197-09FE-46E43015C3E8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B2662E2-E6DB-F7F1-F8DF-ADCC36C9352D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E0E103-EF2E-8794-DF9E-37201D23812D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3E68DCA-AD81-EB55-E928-A95678843847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3E56AC-D475-B270-6C2C-153D906591D7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165D3B7-CEB7-9F62-E4DF-AE010F1FB8F9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0A38C62-CA20-9F2B-6CB0-B17DEEDA6F07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85A737C-F6F0-97FA-7567-EEE9A17DBD31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6F62E8-782E-93C2-061C-901FFDA3F679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8CA5B18-9775-01D7-80D1-3FE9D9E1F51A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71C61FB-AB77-DE6C-4E4E-334BFF6E6681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2" name="Footer Placeholder 19">
            <a:extLst>
              <a:ext uri="{FF2B5EF4-FFF2-40B4-BE49-F238E27FC236}">
                <a16:creationId xmlns:a16="http://schemas.microsoft.com/office/drawing/2014/main" id="{C9CE548C-D259-1A39-2B4D-19C130E0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3" name="Slide Number Placeholder 20">
            <a:extLst>
              <a:ext uri="{FF2B5EF4-FFF2-40B4-BE49-F238E27FC236}">
                <a16:creationId xmlns:a16="http://schemas.microsoft.com/office/drawing/2014/main" id="{246C607C-670A-C66F-F6AF-164AE58C2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4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18">
            <a:extLst>
              <a:ext uri="{FF2B5EF4-FFF2-40B4-BE49-F238E27FC236}">
                <a16:creationId xmlns:a16="http://schemas.microsoft.com/office/drawing/2014/main" id="{ABB6D9FA-5604-E6D6-6AB7-2A23D95C53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1984044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2C327-535F-E8B7-5508-2D92243D9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28AF43A6-8314-0809-2C73-5D24A9A44689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1.3 Objective &amp; Hypothesis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66831-89AC-6755-07EB-A3542C416FEC}"/>
              </a:ext>
            </a:extLst>
          </p:cNvPr>
          <p:cNvSpPr txBox="1"/>
          <p:nvPr/>
        </p:nvSpPr>
        <p:spPr>
          <a:xfrm>
            <a:off x="632116" y="1831994"/>
            <a:ext cx="546388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/>
              <a:t>Objectives</a:t>
            </a:r>
            <a:endParaRPr lang="th-TH" b="1" dirty="0"/>
          </a:p>
          <a:p>
            <a:pPr marL="0" indent="0">
              <a:buNone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Address sparsity for extreme sparse-history users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 — mine single-antecedent rules (A→B, filtered by support/confidence/lift) over item, user-cluster, and liked-item-cluster tokens to give unseen items a soft signal, and cluster users/items so members share group-level evidence despite thin personal history.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Augment WMF via Rule regularization</a:t>
            </a:r>
            <a:r>
              <a:rPr lang="en-US" sz="1600" dirty="0"/>
              <a:t> — jointly optimize WMF so latent factors capture both interactions and the CPARMS rule signal, solved by ALS.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Evaluate</a:t>
            </a:r>
            <a:r>
              <a:rPr lang="en-US" sz="1600" dirty="0"/>
              <a:t> — compare CPARMS-WMF vs. MostPop, Standard-WMF, and CoFactor-WMF on NDCG@10 (primary), @20, @50, @100 and @200.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61EE3-EF6F-93B2-C7B3-EAD4923A38E3}"/>
              </a:ext>
            </a:extLst>
          </p:cNvPr>
          <p:cNvSpPr txBox="1"/>
          <p:nvPr/>
        </p:nvSpPr>
        <p:spPr>
          <a:xfrm>
            <a:off x="6096000" y="1831993"/>
            <a:ext cx="546388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/>
              <a:t>Hypotheses</a:t>
            </a:r>
            <a:endParaRPr lang="th-TH" b="1" dirty="0"/>
          </a:p>
          <a:p>
            <a:pPr marL="0" indent="0">
              <a:buNone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Highest overall ranking accuracy:</a:t>
            </a:r>
            <a:r>
              <a:rPr lang="en-US" sz="1600" b="0" dirty="0"/>
              <a:t> CPARMS-WMF achieves the best overall NDCG@10 among all baselines, including the non-personalized MostPop prior.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Largest relative gains for sparse-history users:</a:t>
            </a:r>
            <a:r>
              <a:rPr lang="en-US" sz="1600" b="0" dirty="0"/>
              <a:t> gains over Standard-WMF are largest for one-interaction users, smaller for active (3+) users — showing the cluster-level channel's value when history is thin.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Robust across cutoffs:</a:t>
            </a:r>
            <a:r>
              <a:rPr lang="en-US" sz="1600" dirty="0"/>
              <a:t> Improvements over Standard-WMF and CoFactor-WMF hold at every reported cutoff: NDCG@10, @20, @50, @100 and @200.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Key hyperparameters:</a:t>
            </a:r>
            <a:r>
              <a:rPr lang="en-US" sz="1600" b="0" dirty="0"/>
              <a:t> user/item cluster counts, min support/confidence/lift, signal weight γ, and normalization mode drive accuracy most.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7C3DE7-7501-FF60-F7D8-7013664041D4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50BD73F-FF43-5F0C-2E23-722D181E230A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CF889C-58BB-C0C3-1654-FEAF54E3A27C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97CDAE4-3BC4-FA7B-D8F5-7AF8BD4838F8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C9A9D4-460F-AFB9-3831-BE15A815B97A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1755FC-B9A1-BEDC-98F1-4C43A7D15278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92FB3C-8F2B-F1DA-6FF2-6DCA421355AC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3FB1D8-F04F-7467-6434-583912DB89D6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CEDC55-4B6E-E4CF-399C-0CE895674968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19CA2D8-AD02-2E25-8709-8AE870E50D8A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7D2153-6CBD-BFD6-EA5B-B606A0534F9D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E1BD356-0D66-7C47-528F-63A391206B69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11F87E-DEF4-F756-9565-7C067A3A3F47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0B113EE-C619-B1C3-E2EE-C1EE7DA857FD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C75975-EC8A-C28D-4950-479771DA1886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2" name="Footer Placeholder 19">
            <a:extLst>
              <a:ext uri="{FF2B5EF4-FFF2-40B4-BE49-F238E27FC236}">
                <a16:creationId xmlns:a16="http://schemas.microsoft.com/office/drawing/2014/main" id="{4DAE08B6-5056-BCAB-B368-A5F7B9338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5" name="Slide Number Placeholder 20">
            <a:extLst>
              <a:ext uri="{FF2B5EF4-FFF2-40B4-BE49-F238E27FC236}">
                <a16:creationId xmlns:a16="http://schemas.microsoft.com/office/drawing/2014/main" id="{AA41C8B6-381D-F24A-10DF-E6500520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5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Date Placeholder 18">
            <a:extLst>
              <a:ext uri="{FF2B5EF4-FFF2-40B4-BE49-F238E27FC236}">
                <a16:creationId xmlns:a16="http://schemas.microsoft.com/office/drawing/2014/main" id="{7F38CF98-55F6-CA7C-336D-9F61E3B156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1046266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20DB6-2C47-788E-37A2-346A2FC1B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405AAC31-F934-657E-E8A2-C470CE0231A0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2.1 Theory — Matrix Factorization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EBACF-F6D3-57C5-D824-F0DE42D7CD83}"/>
              </a:ext>
            </a:extLst>
          </p:cNvPr>
          <p:cNvSpPr txBox="1"/>
          <p:nvPr/>
        </p:nvSpPr>
        <p:spPr>
          <a:xfrm>
            <a:off x="632116" y="1831994"/>
            <a:ext cx="5463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Matrix Factorization (MF)</a:t>
            </a:r>
            <a:br>
              <a:rPr lang="en-US" b="1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Matrix Factorization (MF) is a collaborative filtering method that learns hidden (latent) factors from a user–item interaction matrix to predict missing preferences (e.g., ratings or implicit feedback).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approximates the interaction matrix as the product of two low-dimensional matrices—user embeddings (P) and item embeddings (Q)—so a user's preference for an item is estimated by the similarity (e.g., dot product) of their latent vectors.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B1C3D-8B76-0F86-417A-C286E5634AD8}"/>
              </a:ext>
            </a:extLst>
          </p:cNvPr>
          <p:cNvSpPr txBox="1"/>
          <p:nvPr/>
        </p:nvSpPr>
        <p:spPr>
          <a:xfrm>
            <a:off x="6096000" y="1831993"/>
            <a:ext cx="546388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Weighted Matrix Factorization (WMF)</a:t>
            </a:r>
          </a:p>
          <a:p>
            <a:pPr marL="285750" indent="-285750">
              <a:buFont typeface="Arial"/>
              <a:buChar char="•"/>
            </a:pPr>
            <a:endParaRPr lang="th-TH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Standard MF assumes </a:t>
            </a:r>
            <a:r>
              <a:rPr lang="en-US" sz="1600" b="1" dirty="0"/>
              <a:t>explicit</a:t>
            </a:r>
            <a:r>
              <a:rPr lang="en-US" sz="1600" dirty="0"/>
              <a:t> ratings (e.g., 1–5 stars). WMF is designed for </a:t>
            </a:r>
            <a:r>
              <a:rPr lang="en-US" sz="1600" b="1" dirty="0"/>
              <a:t>implicit</a:t>
            </a:r>
            <a:r>
              <a:rPr lang="en-US" sz="1600" dirty="0"/>
              <a:t> feedback — binary signals such as clicks or purchases — where absence of interaction does not mean dislike.</a:t>
            </a:r>
            <a:endParaRPr lang="th-TH" sz="1600" dirty="0"/>
          </a:p>
          <a:p>
            <a:pPr marL="285750" indent="-285750">
              <a:buFont typeface="Arial"/>
              <a:buChar char="•"/>
            </a:pP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Each interaction is assigned a </a:t>
            </a:r>
            <a:r>
              <a:rPr lang="en-US" sz="1600" b="1" dirty="0"/>
              <a:t>confidence weight</a:t>
            </a:r>
            <a:r>
              <a:rPr lang="en-US" sz="1600" dirty="0"/>
              <a:t> — higher for observed interactions, lower for unobserved — so the model learns from all user–item pairs, not just rated ones.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BC506FF-D939-3534-19C7-CD47475669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2694" y="5135580"/>
          <a:ext cx="47783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35160" imgH="380880" progId="Equation.DSMT4">
                  <p:embed/>
                </p:oleObj>
              </mc:Choice>
              <mc:Fallback>
                <p:oleObj name="Equation" r:id="rId2" imgW="3035160" imgH="3808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C1EC24E-CD3B-8BFD-98B1-4C346D93C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2694" y="5135580"/>
                        <a:ext cx="4778375" cy="569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07DF72A-0A8A-9740-AC9B-7C317584ED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6706" y="5138565"/>
          <a:ext cx="4119677" cy="566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68400" imgH="380880" progId="Equation.DSMT4">
                  <p:embed/>
                </p:oleObj>
              </mc:Choice>
              <mc:Fallback>
                <p:oleObj name="Equation" r:id="rId4" imgW="2768400" imgH="38088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9A10968-72C0-E724-ACE8-3CD6E92DFF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96706" y="5138565"/>
                        <a:ext cx="4119677" cy="5669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C1E84834-CDE9-430B-D967-7EDFF40D78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963380"/>
              </p:ext>
            </p:extLst>
          </p:nvPr>
        </p:nvGraphicFramePr>
        <p:xfrm>
          <a:off x="6296706" y="5802896"/>
          <a:ext cx="16383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228600" progId="Equation.DSMT4">
                  <p:embed/>
                </p:oleObj>
              </mc:Choice>
              <mc:Fallback>
                <p:oleObj name="Equation" r:id="rId6" imgW="1257120" imgH="22860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76D905EC-2303-19C4-7EE8-9DDC8953FD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96706" y="5802896"/>
                        <a:ext cx="1638300" cy="298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 50">
            <a:extLst>
              <a:ext uri="{FF2B5EF4-FFF2-40B4-BE49-F238E27FC236}">
                <a16:creationId xmlns:a16="http://schemas.microsoft.com/office/drawing/2014/main" id="{8380E3F8-D38B-E660-7440-3FFAC1DA97B1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FBC517-A0D0-D2FC-7FCF-E8D1F063F5D4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8CD97A-FC01-4F28-DE3D-552DE7F9E9EA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297B4DE-2047-6EF9-581B-0FF2FA4C1CDC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A42DD1-2604-1F69-E46E-2A5932238E94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609EE5F-3024-1B02-A365-8E7BDD218418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88C32C-56B5-2501-CED3-F3BE79BA512B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1862D60-36CB-9480-B8ED-E189BF377EF0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FB025F-D29B-C5A1-58DF-5752E16BDD80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AC397BC-42E9-BBB0-620B-74E889AD16DC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4C1661-D7CC-90F6-4E16-68D164700B52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36C6272-0C8B-5616-3778-18A52F8C22E1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856713F-0D9A-04A6-3610-75C60C2300C7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7ED150-9275-2B8A-5CE4-3DBED0303EF6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47F02B3-F9FB-1AAA-C55F-959D4A514EEC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5" name="Footer Placeholder 19">
            <a:extLst>
              <a:ext uri="{FF2B5EF4-FFF2-40B4-BE49-F238E27FC236}">
                <a16:creationId xmlns:a16="http://schemas.microsoft.com/office/drawing/2014/main" id="{72C5CE07-65E9-4E20-0CB9-089869152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6" name="Slide Number Placeholder 20">
            <a:extLst>
              <a:ext uri="{FF2B5EF4-FFF2-40B4-BE49-F238E27FC236}">
                <a16:creationId xmlns:a16="http://schemas.microsoft.com/office/drawing/2014/main" id="{E28E4DEC-0644-EF5F-AF41-8BBE2CA68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6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Date Placeholder 18">
            <a:extLst>
              <a:ext uri="{FF2B5EF4-FFF2-40B4-BE49-F238E27FC236}">
                <a16:creationId xmlns:a16="http://schemas.microsoft.com/office/drawing/2014/main" id="{3833223D-559D-9E5E-1AE7-3B4147AA9C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1879127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42FAE-ECCE-E193-8A7F-E189C30BC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D9E55E05-0406-1C1E-11DD-17720B989518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2.1 Theory — Clustering &amp; Association Rule Mining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2A27A1-8310-3234-DC19-A445FD27F890}"/>
              </a:ext>
            </a:extLst>
          </p:cNvPr>
          <p:cNvSpPr txBox="1"/>
          <p:nvPr/>
        </p:nvSpPr>
        <p:spPr>
          <a:xfrm>
            <a:off x="632116" y="1831994"/>
            <a:ext cx="5463884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Clustering</a:t>
            </a:r>
          </a:p>
          <a:p>
            <a:endParaRPr lang="en-US" b="1" dirty="0"/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Unsupervised</a:t>
            </a:r>
            <a:r>
              <a:rPr lang="en-US" sz="1600" dirty="0"/>
              <a:t> method that groups data points so items in the same cluster are more similar to each other than to those in other clusters.</a:t>
            </a:r>
            <a:endParaRPr lang="th-TH" sz="1600" dirty="0"/>
          </a:p>
          <a:p>
            <a:pPr marL="285750" indent="-285750">
              <a:buFont typeface="Arial"/>
              <a:buChar char="•"/>
            </a:pP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Three main approaches:</a:t>
            </a:r>
            <a:endParaRPr lang="th-TH" sz="1600" b="1" dirty="0"/>
          </a:p>
          <a:p>
            <a:pPr marL="742950" lvl="1" indent="-285750">
              <a:buFont typeface="Arial"/>
              <a:buChar char="•"/>
            </a:pPr>
            <a:r>
              <a:rPr lang="en-US" sz="1500" b="1" dirty="0"/>
              <a:t>Distance-based</a:t>
            </a:r>
            <a:r>
              <a:rPr lang="en-US" sz="1500" dirty="0"/>
              <a:t> (e.g., K-Means) — partitions data by minimizing distance to cluster centroids; requires specifying k in advance.</a:t>
            </a:r>
          </a:p>
          <a:p>
            <a:pPr marL="742950" lvl="1" indent="-285750">
              <a:buFont typeface="Arial"/>
              <a:buChar char="•"/>
            </a:pPr>
            <a:r>
              <a:rPr lang="en-US" sz="1500" b="1" dirty="0"/>
              <a:t>Density-based</a:t>
            </a:r>
            <a:r>
              <a:rPr lang="en-US" sz="1500" dirty="0"/>
              <a:t> (e.g., DBSCAN) — identifies clusters as dense regions, can detect arbitrary shapes and flag outliers as noise.</a:t>
            </a:r>
          </a:p>
          <a:p>
            <a:pPr marL="742950" lvl="1" indent="-285750">
              <a:buFont typeface="Arial"/>
              <a:buChar char="•"/>
            </a:pPr>
            <a:r>
              <a:rPr lang="en-US" sz="1500" b="1" dirty="0"/>
              <a:t>Hierarchical</a:t>
            </a:r>
            <a:r>
              <a:rPr lang="en-US" sz="1500" dirty="0"/>
              <a:t> (agglomerative) — merges the closest pairs of clusters bottom-up, producing a dendrogram that can be cut at any level.</a:t>
            </a:r>
          </a:p>
          <a:p>
            <a:pPr marL="285750" indent="-285750">
              <a:buFont typeface="Arial"/>
              <a:buChar char="•"/>
            </a:pP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K-Means</a:t>
            </a:r>
            <a:r>
              <a:rPr lang="en-US" sz="1600" dirty="0"/>
              <a:t> is the most popular</a:t>
            </a:r>
            <a:r>
              <a:rPr lang="th-TH" sz="1600" dirty="0"/>
              <a:t> </a:t>
            </a:r>
            <a:r>
              <a:rPr lang="en-US" sz="1600" dirty="0"/>
              <a:t>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7BB23B-79C0-1CC7-876C-53B65A93CC91}"/>
              </a:ext>
            </a:extLst>
          </p:cNvPr>
          <p:cNvSpPr txBox="1"/>
          <p:nvPr/>
        </p:nvSpPr>
        <p:spPr>
          <a:xfrm>
            <a:off x="6096000" y="1831993"/>
            <a:ext cx="5463884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/>
              <a:t>4. Association Rule Mining (ARM)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Finds patterns of items that frequently appear together and expresses them as rules: </a:t>
            </a:r>
            <a:r>
              <a:rPr lang="en-US" sz="1600" b="1" dirty="0"/>
              <a:t>A → B.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Rules are filtered by three measures:</a:t>
            </a:r>
          </a:p>
          <a:p>
            <a:pPr marL="742950" lvl="1" indent="-285750">
              <a:buFont typeface="Arial"/>
              <a:buChar char="•"/>
            </a:pPr>
            <a:r>
              <a:rPr lang="en-US" sz="1500" b="1" dirty="0"/>
              <a:t>Support</a:t>
            </a:r>
            <a:r>
              <a:rPr lang="en-US" sz="1500" dirty="0"/>
              <a:t> — how often {A, B} appear together across all transactions. Low support = rare pattern.</a:t>
            </a:r>
          </a:p>
          <a:p>
            <a:pPr marL="742950" lvl="1" indent="-285750">
              <a:buFont typeface="Arial"/>
              <a:buChar char="•"/>
            </a:pPr>
            <a:r>
              <a:rPr lang="en-US" sz="1500" b="1" dirty="0"/>
              <a:t>Confidence</a:t>
            </a:r>
            <a:r>
              <a:rPr lang="en-US" sz="1500" dirty="0"/>
              <a:t> — P(B|A): if a user interacted with A, how likely are they to also interact with B?</a:t>
            </a:r>
          </a:p>
          <a:p>
            <a:pPr marL="742950" lvl="1" indent="-285750">
              <a:buFont typeface="Arial"/>
              <a:buChar char="•"/>
            </a:pPr>
            <a:r>
              <a:rPr lang="en-US" sz="1500" b="1" dirty="0"/>
              <a:t>Lift</a:t>
            </a:r>
            <a:r>
              <a:rPr lang="en-US" sz="1500" dirty="0"/>
              <a:t> — whether A and B are genuinely related or just both popular. &gt;1: A makes B more likely; =1: independent; &lt;1: A makes B less likely.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Rule types and how they are computed:</a:t>
            </a:r>
          </a:p>
          <a:p>
            <a:pPr marL="742950" lvl="1" indent="-285750">
              <a:buFont typeface="Arial"/>
              <a:buChar char="•"/>
            </a:pPr>
            <a:r>
              <a:rPr lang="en-US" sz="1500" b="1" dirty="0"/>
              <a:t>1:1 (A → B)</a:t>
            </a:r>
            <a:r>
              <a:rPr lang="en-US" sz="1500" dirty="0"/>
              <a:t> — single item to single item; reduces to Rule counts, computed directly via fast </a:t>
            </a:r>
            <a:r>
              <a:rPr lang="en-US" sz="1500" b="1" dirty="0"/>
              <a:t>vector operations</a:t>
            </a:r>
            <a:r>
              <a:rPr lang="en-US" sz="1500" dirty="0"/>
              <a:t> (no itemset enumeration needed).</a:t>
            </a:r>
          </a:p>
          <a:p>
            <a:pPr marL="742950" lvl="1" indent="-285750">
              <a:buFont typeface="Arial"/>
              <a:buChar char="•"/>
            </a:pPr>
            <a:r>
              <a:rPr lang="en-US" sz="1500" b="1" dirty="0"/>
              <a:t>Many-to-many ({A,B,…} → {C,D,…})</a:t>
            </a:r>
            <a:r>
              <a:rPr lang="en-US" sz="1500" dirty="0"/>
              <a:t> — arbitrary itemsets; requires </a:t>
            </a:r>
            <a:r>
              <a:rPr lang="en-US" sz="1500" b="1" dirty="0"/>
              <a:t>Apriori</a:t>
            </a:r>
            <a:r>
              <a:rPr lang="en-US" sz="1500" dirty="0"/>
              <a:t> or </a:t>
            </a:r>
            <a:r>
              <a:rPr lang="en-US" sz="1500" b="1" dirty="0"/>
              <a:t>FP-growth</a:t>
            </a:r>
            <a:r>
              <a:rPr lang="en-US" sz="1500" dirty="0"/>
              <a:t> — more expressive but slower.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85EC9D-029A-0C19-1BC3-B4B0D64256FE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5656E4-8FDB-C0E0-EBB4-01B61D684818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584377-1133-0E34-B603-9A320110A2A5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F13FCE5-A898-CA55-9380-17954BD3182E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EF3764-D8C9-30AB-460A-E5043FC38131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5982564-95F1-3D13-D60E-9D3FA58974DF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F58B54-400A-FAAC-C8E5-667A3C268BBE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249E0C-4029-2CF9-EB02-0240C2A2AB0D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E70991-8E97-2631-C25D-F82116844BA0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DB0EDA4-C43A-94AA-A06C-570F76998D4E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DDB0F0-1E5D-58D5-DB68-05F1ABFA3647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F1911B5-5BEB-60F0-C3B7-02C901B49514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0BECF3-E076-2DBC-E806-2ADA5B0832B9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808E2EB-287D-C971-CA41-07AA64E30745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A64029-71C1-BDEB-A7FA-72A34DEB1C91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3" name="Footer Placeholder 19">
            <a:extLst>
              <a:ext uri="{FF2B5EF4-FFF2-40B4-BE49-F238E27FC236}">
                <a16:creationId xmlns:a16="http://schemas.microsoft.com/office/drawing/2014/main" id="{8E09D742-ECD4-FA51-7DF2-95B8A274B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4" name="Slide Number Placeholder 20">
            <a:extLst>
              <a:ext uri="{FF2B5EF4-FFF2-40B4-BE49-F238E27FC236}">
                <a16:creationId xmlns:a16="http://schemas.microsoft.com/office/drawing/2014/main" id="{1B9F4533-4C3D-77AA-53DC-F7F7F1A16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7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Date Placeholder 18">
            <a:extLst>
              <a:ext uri="{FF2B5EF4-FFF2-40B4-BE49-F238E27FC236}">
                <a16:creationId xmlns:a16="http://schemas.microsoft.com/office/drawing/2014/main" id="{347C2DCA-36DE-72CB-E3D6-1E60C9D1A9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1226014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C2460-A869-830F-552D-EC9E04444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6791EB15-0A79-087D-F702-B0B7C18B534E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2.2 Literature Review — Five Related Works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A72970-1857-D026-0EBA-5AA0BA9B6889}"/>
              </a:ext>
            </a:extLst>
          </p:cNvPr>
          <p:cNvSpPr txBox="1"/>
          <p:nvPr/>
        </p:nvSpPr>
        <p:spPr>
          <a:xfrm>
            <a:off x="632116" y="1831994"/>
            <a:ext cx="10927768" cy="4042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600" b="1" dirty="0"/>
              <a:t>Mirbakhsh &amp; Ling (2016) — CBMF: </a:t>
            </a:r>
            <a:r>
              <a:rPr lang="en-US" sz="1600" dirty="0"/>
              <a:t>clusters users and items, then factorizes at the cluster level so sparse/cold-start users inherit cluster-level preferences. Feature-free, but gains are marginal (RMSE 0.9025→0.9020) with no rule signal.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600" b="1" dirty="0"/>
              <a:t>Alsalama (2015): </a:t>
            </a:r>
            <a:r>
              <a:rPr lang="en-US" sz="1600" dirty="0"/>
              <a:t>mines rules from a user's non-favorite items and uses content-based similarity for favorites, then merges both. Rule-based rather than latent; the content branch still needs item features.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600" b="1" dirty="0"/>
              <a:t>Najafabadi (2017): </a:t>
            </a:r>
            <a:r>
              <a:rPr lang="en-US" sz="1600" dirty="0"/>
              <a:t>clusters items on implicit feedback and mines cluster-to-cluster rules to fight sparsity. Fully feature-free, but rule-based only (no latent factors) and doesn't address cold-start.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600" b="1" dirty="0"/>
              <a:t>Khaledian (2025) — CFCAI: </a:t>
            </a:r>
            <a:r>
              <a:rPr lang="en-US" sz="1600" dirty="0"/>
              <a:t>clusters users, mines rules over their implicit interactions, and recommends from them — built to relieve user cold-start. Feature-free, but rule/cluster-based only, no WMF/latent model.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sz="1600" b="1" dirty="0"/>
              <a:t>Liang et al. (2016) — CoFactor: </a:t>
            </a:r>
            <a:r>
              <a:rPr lang="en-US" sz="1600" dirty="0"/>
              <a:t>jointly factorizes the user-item and item co-occurrence (SPPMI) matrices via a shared embedding, regularizing latent factors for rare items. Captures only 1-to-1 links, uses no clustering — cold-start users don't benefit.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9D79A8-75CD-343C-1853-F70F7C205C5A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CDD98E4-4A6B-4F50-4F81-0F548BAF21F4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51EEB7-DB11-8963-4E8C-24677FCB4A7B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5B54D0-ADF5-CB6F-B25B-15EC9306BD59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069074-6CA7-CCCD-E803-4335092F7039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4854F25-EB09-AB08-10F1-95FA7B3DD3F3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2A4825-DE9B-DAFF-882D-847824ACCD77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D9A00B-684B-E8BF-FEE5-2D24CC477A32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2AC54A-45EB-1731-B1E6-BA0634B0FAED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8E398C4-80C3-AB00-C8FA-7EFEDC3F6FE4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54A1C9-4ACD-3A6D-9FCD-4E0253533A3B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5BBB2B2-9419-DC8B-6E59-ACADFC4A082D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76C7426-DE7A-D21C-38F2-BF80C3A5D495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911B4A9-8C14-B7D1-3812-DB08D2FC7D2F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C8065A-BD09-3B5A-04E9-E44372E367E4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3" name="Footer Placeholder 19">
            <a:extLst>
              <a:ext uri="{FF2B5EF4-FFF2-40B4-BE49-F238E27FC236}">
                <a16:creationId xmlns:a16="http://schemas.microsoft.com/office/drawing/2014/main" id="{FF1DBCCB-6CAB-923C-42CF-E6E33D347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4" name="Slide Number Placeholder 20">
            <a:extLst>
              <a:ext uri="{FF2B5EF4-FFF2-40B4-BE49-F238E27FC236}">
                <a16:creationId xmlns:a16="http://schemas.microsoft.com/office/drawing/2014/main" id="{8A514C00-E410-2223-B49C-DCE14FF9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8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Date Placeholder 18">
            <a:extLst>
              <a:ext uri="{FF2B5EF4-FFF2-40B4-BE49-F238E27FC236}">
                <a16:creationId xmlns:a16="http://schemas.microsoft.com/office/drawing/2014/main" id="{41E52C44-696A-6742-2DD0-E01E62A789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138775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BFBF0-B7F8-1C88-6187-25329CDDB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PositioningMatrix">
            <a:extLst>
              <a:ext uri="{FF2B5EF4-FFF2-40B4-BE49-F238E27FC236}">
                <a16:creationId xmlns:a16="http://schemas.microsoft.com/office/drawing/2014/main" id="{62D40C58-C39C-431D-946F-22E50E97F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063738"/>
              </p:ext>
            </p:extLst>
          </p:nvPr>
        </p:nvGraphicFramePr>
        <p:xfrm>
          <a:off x="508000" y="1828801"/>
          <a:ext cx="11176000" cy="4594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159339910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613124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08459055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57072991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05521307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068429876"/>
                    </a:ext>
                  </a:extLst>
                </a:gridCol>
              </a:tblGrid>
              <a:tr h="659549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Study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WMF / MF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Clustering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ARM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Feature-free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Spars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 user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 anchor="ctr">
                    <a:solidFill>
                      <a:srgbClr val="26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556028"/>
                  </a:ext>
                </a:extLst>
              </a:tr>
              <a:tr h="659549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263238"/>
                          </a:solidFill>
                        </a:rPr>
                        <a:t>Mirbakhsh</a:t>
                      </a:r>
                      <a:r>
                        <a:rPr sz="1400" dirty="0">
                          <a:solidFill>
                            <a:srgbClr val="263238"/>
                          </a:solidFill>
                        </a:rPr>
                        <a:t> &amp; Ling (2016) — CBMF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9E9E9E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B26A00"/>
                          </a:solidFill>
                        </a:rPr>
                        <a:t>Partial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970171"/>
                  </a:ext>
                </a:extLst>
              </a:tr>
              <a:tr h="659549"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solidFill>
                            <a:srgbClr val="263238"/>
                          </a:solidFill>
                        </a:rPr>
                        <a:t>Alsalama</a:t>
                      </a:r>
                      <a:r>
                        <a:rPr lang="en-US" sz="1400" dirty="0">
                          <a:solidFill>
                            <a:srgbClr val="263238"/>
                          </a:solidFill>
                        </a:rPr>
                        <a:t> (2015)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9E9E9E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9E9E9E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B26A00"/>
                          </a:solidFill>
                        </a:rPr>
                        <a:t>Partial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9E9E9E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140056"/>
                  </a:ext>
                </a:extLst>
              </a:tr>
              <a:tr h="659549"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solidFill>
                            <a:srgbClr val="263238"/>
                          </a:solidFill>
                        </a:rPr>
                        <a:t>Najafabadi</a:t>
                      </a:r>
                      <a:r>
                        <a:rPr lang="en-US" sz="1400" dirty="0">
                          <a:solidFill>
                            <a:srgbClr val="263238"/>
                          </a:solidFill>
                        </a:rPr>
                        <a:t> (2017)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9E9E9E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9E9E9E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531267"/>
                  </a:ext>
                </a:extLst>
              </a:tr>
              <a:tr h="65954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263238"/>
                          </a:solidFill>
                        </a:rPr>
                        <a:t>Khaledian / CFCAI (2025)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9E9E9E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201677"/>
                  </a:ext>
                </a:extLst>
              </a:tr>
              <a:tr h="65954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263238"/>
                          </a:solidFill>
                        </a:rPr>
                        <a:t>Liang / CoFactor (2016)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9E9E9E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E7D32"/>
                          </a:solidFill>
                        </a:rPr>
                        <a:t>✓ (1:1)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9E9E9E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702852"/>
                  </a:ext>
                </a:extLst>
              </a:tr>
              <a:tr h="637221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63238"/>
                          </a:solidFill>
                        </a:rPr>
                        <a:t>Our work — CPARMS-WMF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✓ </a:t>
                      </a:r>
                      <a:r>
                        <a:rPr lang="en-US" sz="1400" dirty="0">
                          <a:solidFill>
                            <a:srgbClr val="2E7D32"/>
                          </a:solidFill>
                        </a:rPr>
                        <a:t>(1:1)</a:t>
                      </a:r>
                      <a:endParaRPr lang="en-US" sz="1400" b="1" dirty="0">
                        <a:solidFill>
                          <a:srgbClr val="2E7D32"/>
                        </a:solidFill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47532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F718F32-1E4F-4962-9DB7-9B4244309EAE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2.3 Literature Review - Positioning of Our Work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2C7D19C-36D3-71FD-DC38-BC51A70C7817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25F4F2-2C42-16DF-C4E0-D3D290FD368C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259048-6725-8F24-A9AE-8D77F7DCDC45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1F63CA2-AAC5-2DC9-CF73-9B5E99CD6B8D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884EAF-0A1E-93E4-081A-11EA55BFD5EC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554BA30-61F2-6CF9-010C-E5D1246F9B3C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DD18AD-55FA-1428-CCD3-D403431AF2E7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C7AE62-D023-E884-B213-1D0D3CD56B51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8E2420-6B53-0FAB-0860-DDB9D1093EEE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72D9B03-76EC-5199-C995-3096232DA8E9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8A880B-E423-21B7-2810-8A244EB55A47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DEC6AAA-CD6A-A182-D8B9-6FA0740D9333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256398-B481-E2FC-7793-9C60CC8F55FB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AFCB6DE-9C7D-993B-3BDB-4680D6DED2A9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022A43-09D6-9557-ECE7-986402D7ECFA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3" name="Footer Placeholder 19">
            <a:extLst>
              <a:ext uri="{FF2B5EF4-FFF2-40B4-BE49-F238E27FC236}">
                <a16:creationId xmlns:a16="http://schemas.microsoft.com/office/drawing/2014/main" id="{9E64010D-BCF8-BC0A-AE4A-0E3A316F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4" name="Slide Number Placeholder 20">
            <a:extLst>
              <a:ext uri="{FF2B5EF4-FFF2-40B4-BE49-F238E27FC236}">
                <a16:creationId xmlns:a16="http://schemas.microsoft.com/office/drawing/2014/main" id="{6EAEF4B8-5AD6-0B97-0536-4D21F997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9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Date Placeholder 18">
            <a:extLst>
              <a:ext uri="{FF2B5EF4-FFF2-40B4-BE49-F238E27FC236}">
                <a16:creationId xmlns:a16="http://schemas.microsoft.com/office/drawing/2014/main" id="{5DF174C6-524D-B347-B64B-BCD125C32F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1383785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C1D14-3C37-2A2B-17EC-0FAC943E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0"/>
          <p:cNvSpPr>
            <a:spLocks noGrp="1"/>
          </p:cNvSpPr>
          <p:nvPr/>
        </p:nvSpPr>
        <p:spPr>
          <a:xfrm>
            <a:off x="1385111" y="2203856"/>
            <a:ext cx="1930400" cy="13462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 wrap="square" anchor="ctr" anchorCtr="1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① Input Y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</a:rPr>
              <a:t>User–Item Matrix Y</a:t>
            </a:r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raw ratings</a:t>
            </a:r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feedback counts</a:t>
            </a:r>
          </a:p>
        </p:txBody>
      </p:sp>
      <p:sp>
        <p:nvSpPr>
          <p:cNvPr id="210" name="a210"/>
          <p:cNvSpPr>
            <a:spLocks noGrp="1"/>
          </p:cNvSpPr>
          <p:nvPr/>
        </p:nvSpPr>
        <p:spPr>
          <a:xfrm>
            <a:off x="3315511" y="2749956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46E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1"/>
          <p:cNvSpPr>
            <a:spLocks noGrp="1"/>
          </p:cNvSpPr>
          <p:nvPr/>
        </p:nvSpPr>
        <p:spPr>
          <a:xfrm>
            <a:off x="3823511" y="2203856"/>
            <a:ext cx="1930400" cy="13462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txBody>
          <a:bodyPr wrap="square" anchor="ctr" anchorCtr="1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② Feedback Views</a:t>
            </a:r>
          </a:p>
          <a:p>
            <a:pPr algn="ctr"/>
            <a:r>
              <a:rPr lang="en-US" sz="1100" dirty="0">
                <a:solidFill>
                  <a:srgbClr val="FFFFFF"/>
                </a:solidFill>
              </a:rPr>
              <a:t>L=1[yᵤᵢ&gt;θ] (liked)</a:t>
            </a:r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B=1[yᵤᵢ&gt;0] (seen)</a:t>
            </a:r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θ=3; only L is learned from</a:t>
            </a:r>
          </a:p>
        </p:txBody>
      </p:sp>
      <p:sp>
        <p:nvSpPr>
          <p:cNvPr id="211" name="a211"/>
          <p:cNvSpPr>
            <a:spLocks noGrp="1"/>
          </p:cNvSpPr>
          <p:nvPr/>
        </p:nvSpPr>
        <p:spPr>
          <a:xfrm>
            <a:off x="5753911" y="2749956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46E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s202"/>
          <p:cNvSpPr>
            <a:spLocks noGrp="1"/>
          </p:cNvSpPr>
          <p:nvPr/>
        </p:nvSpPr>
        <p:spPr>
          <a:xfrm>
            <a:off x="6261911" y="2203856"/>
            <a:ext cx="1930400" cy="1346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anchor="ctr" anchorCtr="1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③ K-Means on L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</a:rPr>
              <a:t>users: rows of L → U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</a:rPr>
              <a:t>items: rows of Lᵀ → G</a:t>
            </a:r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E = 1[LG&gt;0]</a:t>
            </a:r>
          </a:p>
        </p:txBody>
      </p:sp>
      <p:sp>
        <p:nvSpPr>
          <p:cNvPr id="212" name="a212"/>
          <p:cNvSpPr>
            <a:spLocks noGrp="1"/>
          </p:cNvSpPr>
          <p:nvPr/>
        </p:nvSpPr>
        <p:spPr>
          <a:xfrm>
            <a:off x="8192311" y="2749956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46E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s203"/>
          <p:cNvSpPr>
            <a:spLocks noGrp="1"/>
          </p:cNvSpPr>
          <p:nvPr/>
        </p:nvSpPr>
        <p:spPr>
          <a:xfrm>
            <a:off x="8700311" y="2203856"/>
            <a:ext cx="1930400" cy="1346200"/>
          </a:xfrm>
          <a:prstGeom prst="roundRect">
            <a:avLst/>
          </a:prstGeom>
          <a:solidFill>
            <a:srgbClr val="388E3C"/>
          </a:solidFill>
          <a:ln>
            <a:noFill/>
          </a:ln>
        </p:spPr>
        <p:txBody>
          <a:bodyPr wrap="square" anchor="ctr" anchorCtr="1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④ Build Tokens T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</a:rPr>
              <a:t>T = [ L | U | E ]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</a:rPr>
              <a:t>L:item · U:user-clust</a:t>
            </a:r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· E:item-clust presence</a:t>
            </a:r>
          </a:p>
        </p:txBody>
      </p:sp>
      <p:sp>
        <p:nvSpPr>
          <p:cNvPr id="300" name="l300"/>
          <p:cNvSpPr txBox="1"/>
          <p:nvPr/>
        </p:nvSpPr>
        <p:spPr>
          <a:xfrm>
            <a:off x="1385111" y="3626256"/>
            <a:ext cx="1930400" cy="355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100" dirty="0">
                <a:solidFill>
                  <a:srgbClr val="263238"/>
                </a:solidFill>
              </a:rPr>
              <a:t>U × M matrix</a:t>
            </a:r>
          </a:p>
        </p:txBody>
      </p:sp>
      <p:sp>
        <p:nvSpPr>
          <p:cNvPr id="301" name="l301"/>
          <p:cNvSpPr txBox="1"/>
          <p:nvPr/>
        </p:nvSpPr>
        <p:spPr>
          <a:xfrm>
            <a:off x="3823511" y="3626256"/>
            <a:ext cx="1930400" cy="355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100" dirty="0">
                <a:solidFill>
                  <a:srgbClr val="263238"/>
                </a:solidFill>
              </a:rPr>
              <a:t>0 or 1 per cell</a:t>
            </a:r>
          </a:p>
        </p:txBody>
      </p:sp>
      <p:sp>
        <p:nvSpPr>
          <p:cNvPr id="302" name="l302"/>
          <p:cNvSpPr txBox="1"/>
          <p:nvPr/>
        </p:nvSpPr>
        <p:spPr>
          <a:xfrm>
            <a:off x="6261911" y="3626256"/>
            <a:ext cx="1930400" cy="355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100" dirty="0">
                <a:solidFill>
                  <a:srgbClr val="263238"/>
                </a:solidFill>
              </a:rPr>
              <a:t>Groups by behavior</a:t>
            </a:r>
          </a:p>
        </p:txBody>
      </p:sp>
      <p:sp>
        <p:nvSpPr>
          <p:cNvPr id="303" name="l303"/>
          <p:cNvSpPr txBox="1"/>
          <p:nvPr/>
        </p:nvSpPr>
        <p:spPr>
          <a:xfrm>
            <a:off x="8700311" y="3626256"/>
            <a:ext cx="1930400" cy="355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100" dirty="0">
                <a:solidFill>
                  <a:srgbClr val="263238"/>
                </a:solidFill>
              </a:rPr>
              <a:t>All tokens</a:t>
            </a:r>
          </a:p>
        </p:txBody>
      </p:sp>
      <p:sp>
        <p:nvSpPr>
          <p:cNvPr id="213" name="a213"/>
          <p:cNvSpPr>
            <a:spLocks noGrp="1"/>
          </p:cNvSpPr>
          <p:nvPr/>
        </p:nvSpPr>
        <p:spPr>
          <a:xfrm>
            <a:off x="2197911" y="4077512"/>
            <a:ext cx="304800" cy="431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46E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9" name="l399"/>
          <p:cNvSpPr txBox="1"/>
          <p:nvPr/>
        </p:nvSpPr>
        <p:spPr>
          <a:xfrm>
            <a:off x="8446311" y="4515256"/>
            <a:ext cx="2184400" cy="254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900" dirty="0">
                <a:solidFill>
                  <a:srgbClr val="546E7A"/>
                </a:solidFill>
              </a:rPr>
              <a:t>↙ continues left</a:t>
            </a:r>
          </a:p>
        </p:txBody>
      </p:sp>
      <p:sp>
        <p:nvSpPr>
          <p:cNvPr id="205" name="s205"/>
          <p:cNvSpPr>
            <a:spLocks noGrp="1"/>
          </p:cNvSpPr>
          <p:nvPr/>
        </p:nvSpPr>
        <p:spPr>
          <a:xfrm>
            <a:off x="1385111" y="4566056"/>
            <a:ext cx="1930400" cy="13462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txBody>
          <a:bodyPr wrap="square" anchor="ctr" anchorCtr="1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⑤ Pairwise Rules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</a:rPr>
              <a:t>C = TᵀT, single-antecedent rules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</a:rPr>
              <a:t>filter sup/conf/lift</a:t>
            </a:r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item consequents only</a:t>
            </a:r>
          </a:p>
        </p:txBody>
      </p:sp>
      <p:sp>
        <p:nvSpPr>
          <p:cNvPr id="215" name="a215"/>
          <p:cNvSpPr>
            <a:spLocks noGrp="1"/>
          </p:cNvSpPr>
          <p:nvPr/>
        </p:nvSpPr>
        <p:spPr>
          <a:xfrm>
            <a:off x="3315511" y="5112156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46E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s206"/>
          <p:cNvSpPr>
            <a:spLocks noGrp="1"/>
          </p:cNvSpPr>
          <p:nvPr/>
        </p:nvSpPr>
        <p:spPr>
          <a:xfrm>
            <a:off x="3823511" y="4566056"/>
            <a:ext cx="1930400" cy="13462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txBody>
          <a:bodyPr wrap="square" anchor="ctr" anchorCtr="1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⑥ Rule Scores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</a:rPr>
              <a:t>W = D · conf(a→b)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</a:rPr>
              <a:t>confidence of</a:t>
            </a:r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retained rules</a:t>
            </a:r>
          </a:p>
        </p:txBody>
      </p:sp>
      <p:sp>
        <p:nvSpPr>
          <p:cNvPr id="216" name="a216"/>
          <p:cNvSpPr>
            <a:spLocks noGrp="1"/>
          </p:cNvSpPr>
          <p:nvPr/>
        </p:nvSpPr>
        <p:spPr>
          <a:xfrm>
            <a:off x="5753911" y="5112156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46E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s207"/>
          <p:cNvSpPr>
            <a:spLocks noGrp="1"/>
          </p:cNvSpPr>
          <p:nvPr/>
        </p:nvSpPr>
        <p:spPr>
          <a:xfrm>
            <a:off x="6261911" y="4566056"/>
            <a:ext cx="1930400" cy="13462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 wrap="square" anchor="ctr" anchorCtr="1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⑦ Sum, Mask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</a:rPr>
              <a:t>S̃ = T W</a:t>
            </a:r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L,E personal; U generic</a:t>
            </a:r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remove seen items (B)</a:t>
            </a:r>
          </a:p>
        </p:txBody>
      </p:sp>
      <p:sp>
        <p:nvSpPr>
          <p:cNvPr id="217" name="a217"/>
          <p:cNvSpPr>
            <a:spLocks noGrp="1"/>
          </p:cNvSpPr>
          <p:nvPr/>
        </p:nvSpPr>
        <p:spPr>
          <a:xfrm>
            <a:off x="8192311" y="5112156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46E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s208"/>
          <p:cNvSpPr>
            <a:spLocks noGrp="1"/>
          </p:cNvSpPr>
          <p:nvPr/>
        </p:nvSpPr>
        <p:spPr>
          <a:xfrm>
            <a:off x="8700311" y="4566056"/>
            <a:ext cx="1930400" cy="1346200"/>
          </a:xfrm>
          <a:prstGeom prst="roundRect">
            <a:avLst/>
          </a:prstGeom>
          <a:solidFill>
            <a:srgbClr val="F57F17"/>
          </a:solidFill>
          <a:ln>
            <a:noFill/>
          </a:ln>
        </p:spPr>
        <p:txBody>
          <a:bodyPr wrap="square" anchor="ctr" anchorCtr="1">
            <a:normAutofit/>
          </a:bodyPr>
          <a:lstStyle/>
          <a:p>
            <a:pPr algn="ctr"/>
            <a:r>
              <a:rPr lang="en-US" sz="1300" b="1" dirty="0">
                <a:solidFill>
                  <a:srgbClr val="263238"/>
                </a:solidFill>
              </a:rPr>
              <a:t>⑧ Normalize</a:t>
            </a:r>
          </a:p>
          <a:p>
            <a:pPr algn="ctr"/>
            <a:r>
              <a:rPr lang="en-US" sz="1050" dirty="0">
                <a:solidFill>
                  <a:srgbClr val="263238"/>
                </a:solidFill>
              </a:rPr>
              <a:t>row-max /</a:t>
            </a:r>
          </a:p>
          <a:p>
            <a:pPr algn="ctr"/>
            <a:r>
              <a:rPr lang="en-US" sz="1100" dirty="0">
                <a:solidFill>
                  <a:srgbClr val="263238"/>
                </a:solidFill>
              </a:rPr>
              <a:t>log-damped row-max S ∈ [0,1], size U×I</a:t>
            </a:r>
          </a:p>
        </p:txBody>
      </p:sp>
      <p:sp>
        <p:nvSpPr>
          <p:cNvPr id="313" name="l313"/>
          <p:cNvSpPr txBox="1"/>
          <p:nvPr/>
        </p:nvSpPr>
        <p:spPr>
          <a:xfrm>
            <a:off x="1385111" y="5861456"/>
            <a:ext cx="1930400" cy="355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100" dirty="0">
                <a:solidFill>
                  <a:srgbClr val="263238"/>
                </a:solidFill>
              </a:rPr>
              <a:t>directional rules</a:t>
            </a:r>
          </a:p>
        </p:txBody>
      </p:sp>
      <p:sp>
        <p:nvSpPr>
          <p:cNvPr id="314" name="l314"/>
          <p:cNvSpPr txBox="1"/>
          <p:nvPr/>
        </p:nvSpPr>
        <p:spPr>
          <a:xfrm>
            <a:off x="3823511" y="5861456"/>
            <a:ext cx="1930400" cy="355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100" dirty="0">
                <a:solidFill>
                  <a:srgbClr val="263238"/>
                </a:solidFill>
              </a:rPr>
              <a:t>weighted rules</a:t>
            </a:r>
          </a:p>
        </p:txBody>
      </p:sp>
      <p:sp>
        <p:nvSpPr>
          <p:cNvPr id="315" name="l315"/>
          <p:cNvSpPr txBox="1"/>
          <p:nvPr/>
        </p:nvSpPr>
        <p:spPr>
          <a:xfrm>
            <a:off x="6261911" y="5861456"/>
            <a:ext cx="1930400" cy="355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100" dirty="0">
                <a:solidFill>
                  <a:srgbClr val="263238"/>
                </a:solidFill>
              </a:rPr>
              <a:t>raw signal S̃</a:t>
            </a:r>
          </a:p>
        </p:txBody>
      </p:sp>
      <p:sp>
        <p:nvSpPr>
          <p:cNvPr id="316" name="l316"/>
          <p:cNvSpPr txBox="1"/>
          <p:nvPr/>
        </p:nvSpPr>
        <p:spPr>
          <a:xfrm>
            <a:off x="8700311" y="5861456"/>
            <a:ext cx="1930400" cy="355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100" dirty="0">
                <a:solidFill>
                  <a:srgbClr val="263238"/>
                </a:solidFill>
              </a:rPr>
              <a:t>S sparse, size U×I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F51371-82FC-88C4-FDD6-EB466E9C70DD}"/>
              </a:ext>
            </a:extLst>
          </p:cNvPr>
          <p:cNvSpPr/>
          <p:nvPr/>
        </p:nvSpPr>
        <p:spPr>
          <a:xfrm>
            <a:off x="2276273" y="4077512"/>
            <a:ext cx="7470843" cy="1244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2CED75-9F62-0464-A5A8-9DF5DFB7159E}"/>
              </a:ext>
            </a:extLst>
          </p:cNvPr>
          <p:cNvSpPr/>
          <p:nvPr/>
        </p:nvSpPr>
        <p:spPr>
          <a:xfrm>
            <a:off x="9597959" y="3937812"/>
            <a:ext cx="149157" cy="2667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3F5801-B8AB-4EC7-4A66-6CF8E0EAA48B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3.1 Clustering Pairwise Association Rule Mining Signal (1)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ED5FEE-6604-24AF-0DC9-3C7DCCD4B623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6A51378-126E-D75F-6E7C-AF95A0270091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795285-BDA7-CD5E-985F-ACC0B8D7D093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F96084A-5E29-61C3-CB0A-03D674944FC6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8FAD80B-A2A9-2D78-B551-0BBE43867D4D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D1A2578-40E4-F3F8-D409-79DA06A836B7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647BFE6-2DA7-9C3F-6055-15F0598852E4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B9938762-B8D8-8C28-C628-E2F630B330B8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352F3DA-ED2F-4B51-B5C8-EF2D21C5B2AE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9A3C332A-0D7A-71F7-F964-AA9D1F900877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A1DBFA7-583F-0B02-4AF4-7F7B62AC0745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58F6CC95-9B42-6F7E-030C-BB03141B554A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BFBC4119-92D7-A4C8-2785-3BF4C5ABF084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7D8836EC-6D3D-20CB-8CF4-8E95CB430655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B6B8CA30-0E11-E645-A0F8-C4C54CB14B44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2" name="Footer Placeholder 19">
            <a:extLst>
              <a:ext uri="{FF2B5EF4-FFF2-40B4-BE49-F238E27FC236}">
                <a16:creationId xmlns:a16="http://schemas.microsoft.com/office/drawing/2014/main" id="{53CC8C5D-FC27-21E1-B10F-C759F110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5" name="Slide Number Placeholder 20">
            <a:extLst>
              <a:ext uri="{FF2B5EF4-FFF2-40B4-BE49-F238E27FC236}">
                <a16:creationId xmlns:a16="http://schemas.microsoft.com/office/drawing/2014/main" id="{29E517A5-F49B-CD05-96C5-489269C2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10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Date Placeholder 18">
            <a:extLst>
              <a:ext uri="{FF2B5EF4-FFF2-40B4-BE49-F238E27FC236}">
                <a16:creationId xmlns:a16="http://schemas.microsoft.com/office/drawing/2014/main" id="{42B075E1-4B29-BE8E-DC70-4DD45881A6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3424686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7FE85-8B49-6064-2A6D-7C03A716A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iagramBg">
            <a:extLst>
              <a:ext uri="{FF2B5EF4-FFF2-40B4-BE49-F238E27FC236}">
                <a16:creationId xmlns:a16="http://schemas.microsoft.com/office/drawing/2014/main" id="{B43FA335-C779-5D80-A64A-E00FED71F578}"/>
              </a:ext>
            </a:extLst>
          </p:cNvPr>
          <p:cNvSpPr>
            <a:spLocks noGrp="1"/>
          </p:cNvSpPr>
          <p:nvPr/>
        </p:nvSpPr>
        <p:spPr>
          <a:xfrm>
            <a:off x="3525655" y="2182618"/>
            <a:ext cx="4835890" cy="4072264"/>
          </a:xfrm>
          <a:prstGeom prst="roundRect">
            <a:avLst>
              <a:gd name="adj" fmla="val 8248"/>
            </a:avLst>
          </a:prstGeom>
          <a:solidFill>
            <a:srgbClr val="F5F8FF"/>
          </a:solidFill>
          <a:ln w="19050">
            <a:solidFill>
              <a:srgbClr val="B0C4D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30" name="DiagramBg">
            <a:extLst>
              <a:ext uri="{FF2B5EF4-FFF2-40B4-BE49-F238E27FC236}">
                <a16:creationId xmlns:a16="http://schemas.microsoft.com/office/drawing/2014/main" id="{AE6E2DB6-10FC-144C-DBFD-90AB077AB631}"/>
              </a:ext>
            </a:extLst>
          </p:cNvPr>
          <p:cNvSpPr>
            <a:spLocks noGrp="1"/>
          </p:cNvSpPr>
          <p:nvPr/>
        </p:nvSpPr>
        <p:spPr>
          <a:xfrm>
            <a:off x="714850" y="2182618"/>
            <a:ext cx="2660650" cy="4072264"/>
          </a:xfrm>
          <a:prstGeom prst="roundRect">
            <a:avLst>
              <a:gd name="adj" fmla="val 8248"/>
            </a:avLst>
          </a:prstGeom>
          <a:solidFill>
            <a:srgbClr val="F5F8FF"/>
          </a:solidFill>
          <a:ln w="19050">
            <a:solidFill>
              <a:srgbClr val="B0C4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0675FF-0219-5F40-0244-9C1AF2CB3685}"/>
              </a:ext>
            </a:extLst>
          </p:cNvPr>
          <p:cNvSpPr txBox="1"/>
          <p:nvPr/>
        </p:nvSpPr>
        <p:spPr>
          <a:xfrm>
            <a:off x="987023" y="2304489"/>
            <a:ext cx="2193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User A Favorite</a:t>
            </a:r>
          </a:p>
        </p:txBody>
      </p:sp>
      <p:pic>
        <p:nvPicPr>
          <p:cNvPr id="13" name="Picture 12" descr="A movie poster of a person in a mask  AI-generated content may be incorrect.">
            <a:extLst>
              <a:ext uri="{FF2B5EF4-FFF2-40B4-BE49-F238E27FC236}">
                <a16:creationId xmlns:a16="http://schemas.microsoft.com/office/drawing/2014/main" id="{FBC9AA7E-3310-A65C-6A2D-2438E3063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496" y="2719498"/>
            <a:ext cx="553822" cy="819656"/>
          </a:xfrm>
          <a:prstGeom prst="rect">
            <a:avLst/>
          </a:prstGeom>
        </p:spPr>
      </p:pic>
      <p:pic>
        <p:nvPicPr>
          <p:cNvPr id="15" name="Picture 14" descr="A person in a mask and mask with many bats  AI-generated content may be incorrect.">
            <a:extLst>
              <a:ext uri="{FF2B5EF4-FFF2-40B4-BE49-F238E27FC236}">
                <a16:creationId xmlns:a16="http://schemas.microsoft.com/office/drawing/2014/main" id="{74421C15-B9AD-96BC-55F9-785E2CFB7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12" y="2716348"/>
            <a:ext cx="553822" cy="82047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503248C-628C-FDF7-E49C-FAAA3BE319AB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3.1 Clustering Pairwise Association Rule Mining Signal (2)</a:t>
            </a:r>
          </a:p>
        </p:txBody>
      </p:sp>
      <p:sp>
        <p:nvSpPr>
          <p:cNvPr id="36" name="DiagramBg">
            <a:extLst>
              <a:ext uri="{FF2B5EF4-FFF2-40B4-BE49-F238E27FC236}">
                <a16:creationId xmlns:a16="http://schemas.microsoft.com/office/drawing/2014/main" id="{97BBFAAE-D8FE-9948-F7F5-15E097886D1B}"/>
              </a:ext>
            </a:extLst>
          </p:cNvPr>
          <p:cNvSpPr>
            <a:spLocks noGrp="1"/>
          </p:cNvSpPr>
          <p:nvPr/>
        </p:nvSpPr>
        <p:spPr>
          <a:xfrm>
            <a:off x="8511700" y="2182618"/>
            <a:ext cx="2965450" cy="4072264"/>
          </a:xfrm>
          <a:prstGeom prst="roundRect">
            <a:avLst>
              <a:gd name="adj" fmla="val 8248"/>
            </a:avLst>
          </a:prstGeom>
          <a:solidFill>
            <a:srgbClr val="F5F8FF"/>
          </a:solidFill>
          <a:ln w="19050">
            <a:solidFill>
              <a:srgbClr val="B0C4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EBB390-C0A8-19E4-2F28-1F265EF656C4}"/>
              </a:ext>
            </a:extLst>
          </p:cNvPr>
          <p:cNvSpPr txBox="1"/>
          <p:nvPr/>
        </p:nvSpPr>
        <p:spPr>
          <a:xfrm>
            <a:off x="3765551" y="2302667"/>
            <a:ext cx="412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Signal Score (Rule Confidence)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685AEC-E276-FB8E-310C-9DDA71BB1883}"/>
              </a:ext>
            </a:extLst>
          </p:cNvPr>
          <p:cNvSpPr txBox="1"/>
          <p:nvPr/>
        </p:nvSpPr>
        <p:spPr>
          <a:xfrm>
            <a:off x="8682106" y="2302666"/>
            <a:ext cx="2231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CPARMS Signal (User A)</a:t>
            </a:r>
          </a:p>
        </p:txBody>
      </p:sp>
      <p:pic>
        <p:nvPicPr>
          <p:cNvPr id="46" name="Picture 45" descr="A person in a suit holding an object  AI-generated content may be incorrect.">
            <a:extLst>
              <a:ext uri="{FF2B5EF4-FFF2-40B4-BE49-F238E27FC236}">
                <a16:creationId xmlns:a16="http://schemas.microsoft.com/office/drawing/2014/main" id="{1086277A-0CA0-D8B0-4F65-8A4945CF8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76" y="2678248"/>
            <a:ext cx="810855" cy="1163703"/>
          </a:xfrm>
          <a:prstGeom prst="rect">
            <a:avLst/>
          </a:prstGeom>
        </p:spPr>
      </p:pic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7812DBBD-EC94-000D-D995-310B2227C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445875"/>
              </p:ext>
            </p:extLst>
          </p:nvPr>
        </p:nvGraphicFramePr>
        <p:xfrm>
          <a:off x="9058275" y="3875088"/>
          <a:ext cx="195421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31560" imgH="253800" progId="Equation.DSMT4">
                  <p:embed/>
                </p:oleObj>
              </mc:Choice>
              <mc:Fallback>
                <p:oleObj name="Equation" r:id="rId5" imgW="1231560" imgH="253800" progId="Equation.DSMT4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8AE8E91F-DEB6-4BC1-0986-9B07CB7C2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58275" y="3875088"/>
                        <a:ext cx="1954213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B36559D-198C-76AC-ABB9-AD16805A8DF2}"/>
              </a:ext>
            </a:extLst>
          </p:cNvPr>
          <p:cNvCxnSpPr>
            <a:cxnSpLocks/>
          </p:cNvCxnSpPr>
          <p:nvPr/>
        </p:nvCxnSpPr>
        <p:spPr>
          <a:xfrm>
            <a:off x="4918536" y="3260099"/>
            <a:ext cx="2110914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4C3B729-F423-521F-4723-D1520D866DF0}"/>
              </a:ext>
            </a:extLst>
          </p:cNvPr>
          <p:cNvSpPr txBox="1"/>
          <p:nvPr/>
        </p:nvSpPr>
        <p:spPr>
          <a:xfrm>
            <a:off x="6413720" y="2942895"/>
            <a:ext cx="520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/>
                </a:solidFill>
              </a:rPr>
              <a:t>0.2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60B7CD9-ED4B-8A85-9A36-D6F4CB8710A6}"/>
              </a:ext>
            </a:extLst>
          </p:cNvPr>
          <p:cNvSpPr txBox="1"/>
          <p:nvPr/>
        </p:nvSpPr>
        <p:spPr>
          <a:xfrm rot="16200000">
            <a:off x="9328150" y="3194495"/>
            <a:ext cx="10128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John Wick 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04D1CE6-8BD7-9664-F06D-8F32372EC692}"/>
              </a:ext>
            </a:extLst>
          </p:cNvPr>
          <p:cNvSpPr txBox="1"/>
          <p:nvPr/>
        </p:nvSpPr>
        <p:spPr>
          <a:xfrm rot="16200000">
            <a:off x="9842025" y="3190348"/>
            <a:ext cx="10128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John Wick 2</a:t>
            </a:r>
          </a:p>
        </p:txBody>
      </p:sp>
      <p:graphicFrame>
        <p:nvGraphicFramePr>
          <p:cNvPr id="96" name="Object 95">
            <a:extLst>
              <a:ext uri="{FF2B5EF4-FFF2-40B4-BE49-F238E27FC236}">
                <a16:creationId xmlns:a16="http://schemas.microsoft.com/office/drawing/2014/main" id="{2EA09EAF-BB10-9EF1-5B2E-A2391EE59D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690519"/>
              </p:ext>
            </p:extLst>
          </p:nvPr>
        </p:nvGraphicFramePr>
        <p:xfrm>
          <a:off x="8802743" y="4413103"/>
          <a:ext cx="2265353" cy="343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11280" imgH="228600" progId="Equation.DSMT4">
                  <p:embed/>
                </p:oleObj>
              </mc:Choice>
              <mc:Fallback>
                <p:oleObj name="Equation" r:id="rId7" imgW="1511280" imgH="228600" progId="Equation.DSMT4">
                  <p:embed/>
                  <p:pic>
                    <p:nvPicPr>
                      <p:cNvPr id="96" name="Object 95">
                        <a:extLst>
                          <a:ext uri="{FF2B5EF4-FFF2-40B4-BE49-F238E27FC236}">
                            <a16:creationId xmlns:a16="http://schemas.microsoft.com/office/drawing/2014/main" id="{14B5DD82-A633-3448-35E1-5CD21C3017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02743" y="4413103"/>
                        <a:ext cx="2265353" cy="343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B78B333-9F25-2E28-B459-87B7A214A22C}"/>
              </a:ext>
            </a:extLst>
          </p:cNvPr>
          <p:cNvSpPr txBox="1"/>
          <p:nvPr/>
        </p:nvSpPr>
        <p:spPr>
          <a:xfrm>
            <a:off x="982005" y="3654193"/>
            <a:ext cx="2193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Item Category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0CF3C5-F6F3-AA6C-73DB-636421C0D5D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36105"/>
          <a:stretch>
            <a:fillRect/>
          </a:stretch>
        </p:blipFill>
        <p:spPr>
          <a:xfrm>
            <a:off x="1104789" y="4029396"/>
            <a:ext cx="1187529" cy="51125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89306A2-80B5-3ED7-0B50-9D6BE56BACD1}"/>
              </a:ext>
            </a:extLst>
          </p:cNvPr>
          <p:cNvSpPr txBox="1"/>
          <p:nvPr/>
        </p:nvSpPr>
        <p:spPr>
          <a:xfrm>
            <a:off x="982005" y="4657955"/>
            <a:ext cx="2193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User Persona</a:t>
            </a:r>
          </a:p>
        </p:txBody>
      </p:sp>
      <p:pic>
        <p:nvPicPr>
          <p:cNvPr id="26" name="Picture 25" descr="A group of people in clothing  AI-generated content may be incorrect.">
            <a:extLst>
              <a:ext uri="{FF2B5EF4-FFF2-40B4-BE49-F238E27FC236}">
                <a16:creationId xmlns:a16="http://schemas.microsoft.com/office/drawing/2014/main" id="{51393B64-AC24-E01D-EFB5-281A0D7ECF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13" y="5016988"/>
            <a:ext cx="783238" cy="777914"/>
          </a:xfrm>
          <a:prstGeom prst="rect">
            <a:avLst/>
          </a:prstGeom>
        </p:spPr>
      </p:pic>
      <p:pic>
        <p:nvPicPr>
          <p:cNvPr id="28" name="Picture 27" descr="A movie poster of a person in a mask  AI-generated content may be incorrect.">
            <a:extLst>
              <a:ext uri="{FF2B5EF4-FFF2-40B4-BE49-F238E27FC236}">
                <a16:creationId xmlns:a16="http://schemas.microsoft.com/office/drawing/2014/main" id="{6CC39258-4A33-3314-377B-9E5905531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2430" y="3740076"/>
            <a:ext cx="553822" cy="819656"/>
          </a:xfrm>
          <a:prstGeom prst="rect">
            <a:avLst/>
          </a:prstGeom>
        </p:spPr>
      </p:pic>
      <p:pic>
        <p:nvPicPr>
          <p:cNvPr id="29" name="Picture 28" descr="A person in a mask and mask with many bats  AI-generated content may be incorrect.">
            <a:extLst>
              <a:ext uri="{FF2B5EF4-FFF2-40B4-BE49-F238E27FC236}">
                <a16:creationId xmlns:a16="http://schemas.microsoft.com/office/drawing/2014/main" id="{69718BD4-9257-B6C2-66C7-56449A001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2430" y="2877792"/>
            <a:ext cx="553822" cy="820478"/>
          </a:xfrm>
          <a:prstGeom prst="rect">
            <a:avLst/>
          </a:prstGeom>
        </p:spPr>
      </p:pic>
      <p:pic>
        <p:nvPicPr>
          <p:cNvPr id="35" name="Picture 34" descr="A group of people in clothing  AI-generated content may be incorrect.">
            <a:extLst>
              <a:ext uri="{FF2B5EF4-FFF2-40B4-BE49-F238E27FC236}">
                <a16:creationId xmlns:a16="http://schemas.microsoft.com/office/drawing/2014/main" id="{C85463FB-5B13-5EC0-A4D5-636F5600C4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2430" y="5355919"/>
            <a:ext cx="783238" cy="777914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1634350-06D5-68F0-DF22-DC0884DA20E5}"/>
              </a:ext>
            </a:extLst>
          </p:cNvPr>
          <p:cNvCxnSpPr>
            <a:cxnSpLocks/>
          </p:cNvCxnSpPr>
          <p:nvPr/>
        </p:nvCxnSpPr>
        <p:spPr>
          <a:xfrm flipV="1">
            <a:off x="4978061" y="3270049"/>
            <a:ext cx="2015438" cy="87985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404FAC6-858F-D1EE-C40E-81B8FDD8DC5F}"/>
              </a:ext>
            </a:extLst>
          </p:cNvPr>
          <p:cNvCxnSpPr>
            <a:cxnSpLocks/>
          </p:cNvCxnSpPr>
          <p:nvPr/>
        </p:nvCxnSpPr>
        <p:spPr>
          <a:xfrm flipV="1">
            <a:off x="5317247" y="3255850"/>
            <a:ext cx="1668773" cy="167546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561404F-61F7-353E-3A79-BD3D8D904420}"/>
              </a:ext>
            </a:extLst>
          </p:cNvPr>
          <p:cNvCxnSpPr>
            <a:cxnSpLocks/>
          </p:cNvCxnSpPr>
          <p:nvPr/>
        </p:nvCxnSpPr>
        <p:spPr>
          <a:xfrm flipV="1">
            <a:off x="4997450" y="3248428"/>
            <a:ext cx="1996049" cy="253173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68C6BF4-1778-2DB7-3875-D520F1909425}"/>
              </a:ext>
            </a:extLst>
          </p:cNvPr>
          <p:cNvSpPr txBox="1"/>
          <p:nvPr/>
        </p:nvSpPr>
        <p:spPr>
          <a:xfrm>
            <a:off x="6096000" y="3271771"/>
            <a:ext cx="520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/>
                </a:solidFill>
              </a:rPr>
              <a:t>0.2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A9B07BE-586C-2279-C8B5-A3607DB88576}"/>
              </a:ext>
            </a:extLst>
          </p:cNvPr>
          <p:cNvSpPr txBox="1"/>
          <p:nvPr/>
        </p:nvSpPr>
        <p:spPr>
          <a:xfrm>
            <a:off x="5970692" y="3672060"/>
            <a:ext cx="520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/>
                </a:solidFill>
              </a:rPr>
              <a:t>0.1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367615-7B07-7A54-7643-CF4ACAEB8C5F}"/>
              </a:ext>
            </a:extLst>
          </p:cNvPr>
          <p:cNvSpPr txBox="1"/>
          <p:nvPr/>
        </p:nvSpPr>
        <p:spPr>
          <a:xfrm>
            <a:off x="6571927" y="3644428"/>
            <a:ext cx="520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/>
                </a:solidFill>
              </a:rPr>
              <a:t>0.1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2E39D2F2-F069-6FAA-85EE-0BA3A1F1CF3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36105"/>
          <a:stretch>
            <a:fillRect/>
          </a:stretch>
        </p:blipFill>
        <p:spPr>
          <a:xfrm>
            <a:off x="3822644" y="4665409"/>
            <a:ext cx="1187529" cy="511257"/>
          </a:xfrm>
          <a:prstGeom prst="rect">
            <a:avLst/>
          </a:prstGeom>
        </p:spPr>
      </p:pic>
      <p:sp>
        <p:nvSpPr>
          <p:cNvPr id="119" name="Rectangle 118">
            <a:extLst>
              <a:ext uri="{FF2B5EF4-FFF2-40B4-BE49-F238E27FC236}">
                <a16:creationId xmlns:a16="http://schemas.microsoft.com/office/drawing/2014/main" id="{E4AD24B3-B2C4-F773-F186-740E98FA4E13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C818AA3-2A01-4C72-7B0C-FBA35F9CD325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E4E4849-B244-6524-D37C-57FF17CD9ADE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0AFD452C-2C15-AE31-0CA5-06AFD36F08E0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C70BF15-8C25-E75F-5D2A-5B6DA6D6D670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3248A52-F6A2-0019-E8E0-03FB12BE170B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17183AA-E8EE-288E-BDAA-26ADD4074B61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D794D5D-F7B4-629A-5C4C-E276EF60A09B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249D899-837A-EB58-E4BE-2DE71C1C9BE1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85220984-D7FC-3CDB-3EE1-DF9671E3F3AE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69F9EFFB-265B-71DC-7A8C-3B2949225A7F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AA63EE21-0877-E441-0ECE-C4C1C88A9419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8F8B8C97-7528-1C60-5BAA-23B627161922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45EA15B-C866-2190-7FDC-D7433FBE6435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C5371BF0-5DFE-302E-471C-C56BABF9B201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2" name="Footer Placeholder 19">
            <a:extLst>
              <a:ext uri="{FF2B5EF4-FFF2-40B4-BE49-F238E27FC236}">
                <a16:creationId xmlns:a16="http://schemas.microsoft.com/office/drawing/2014/main" id="{A93531AB-79B9-547F-CAFD-0E525828F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3" name="Slide Number Placeholder 20">
            <a:extLst>
              <a:ext uri="{FF2B5EF4-FFF2-40B4-BE49-F238E27FC236}">
                <a16:creationId xmlns:a16="http://schemas.microsoft.com/office/drawing/2014/main" id="{1F83FC8B-2563-B1FD-D791-A583AB93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11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Date Placeholder 18">
            <a:extLst>
              <a:ext uri="{FF2B5EF4-FFF2-40B4-BE49-F238E27FC236}">
                <a16:creationId xmlns:a16="http://schemas.microsoft.com/office/drawing/2014/main" id="{785BD093-FE39-77A2-2D3F-E5341EA15F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  <p:pic>
        <p:nvPicPr>
          <p:cNvPr id="9" name="Picture 8" descr="A movie poster of a person surrounded by many hands&#10;&#10;AI-generated content may be incorrect.">
            <a:extLst>
              <a:ext uri="{FF2B5EF4-FFF2-40B4-BE49-F238E27FC236}">
                <a16:creationId xmlns:a16="http://schemas.microsoft.com/office/drawing/2014/main" id="{D09F2FE7-EF6F-176B-F328-489468B565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76" y="4182236"/>
            <a:ext cx="820653" cy="1163703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3F49818-F03D-7EE1-39A7-98F4DBA7BD6D}"/>
              </a:ext>
            </a:extLst>
          </p:cNvPr>
          <p:cNvCxnSpPr>
            <a:cxnSpLocks/>
          </p:cNvCxnSpPr>
          <p:nvPr/>
        </p:nvCxnSpPr>
        <p:spPr>
          <a:xfrm>
            <a:off x="4940095" y="3271771"/>
            <a:ext cx="2095463" cy="15686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3F08FF5-C725-7C9A-57A6-C0CAC45DC0BF}"/>
              </a:ext>
            </a:extLst>
          </p:cNvPr>
          <p:cNvCxnSpPr>
            <a:cxnSpLocks/>
          </p:cNvCxnSpPr>
          <p:nvPr/>
        </p:nvCxnSpPr>
        <p:spPr>
          <a:xfrm>
            <a:off x="4982177" y="4130359"/>
            <a:ext cx="2011322" cy="7100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8D44B4-C199-62B5-F3AF-BF9F1C68CAF8}"/>
              </a:ext>
            </a:extLst>
          </p:cNvPr>
          <p:cNvCxnSpPr>
            <a:cxnSpLocks/>
          </p:cNvCxnSpPr>
          <p:nvPr/>
        </p:nvCxnSpPr>
        <p:spPr>
          <a:xfrm flipV="1">
            <a:off x="5317247" y="4852061"/>
            <a:ext cx="1676252" cy="775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D450EA4-5DF9-565D-D251-E688C24CC212}"/>
              </a:ext>
            </a:extLst>
          </p:cNvPr>
          <p:cNvCxnSpPr>
            <a:cxnSpLocks/>
          </p:cNvCxnSpPr>
          <p:nvPr/>
        </p:nvCxnSpPr>
        <p:spPr>
          <a:xfrm flipV="1">
            <a:off x="4989564" y="4868924"/>
            <a:ext cx="2039886" cy="9271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DE93ED6-4303-B13A-AAF0-E405C60D334F}"/>
              </a:ext>
            </a:extLst>
          </p:cNvPr>
          <p:cNvSpPr txBox="1"/>
          <p:nvPr/>
        </p:nvSpPr>
        <p:spPr>
          <a:xfrm>
            <a:off x="6533725" y="4291143"/>
            <a:ext cx="520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/>
                </a:solidFill>
              </a:rPr>
              <a:t>0.1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D4E466-D0E3-CF44-C334-A68EA5145A81}"/>
              </a:ext>
            </a:extLst>
          </p:cNvPr>
          <p:cNvSpPr txBox="1"/>
          <p:nvPr/>
        </p:nvSpPr>
        <p:spPr>
          <a:xfrm>
            <a:off x="6082528" y="4356647"/>
            <a:ext cx="520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/>
                </a:solidFill>
              </a:rPr>
              <a:t>0.1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F77320-3115-65EC-ED64-07A14E660A87}"/>
              </a:ext>
            </a:extLst>
          </p:cNvPr>
          <p:cNvSpPr txBox="1"/>
          <p:nvPr/>
        </p:nvSpPr>
        <p:spPr>
          <a:xfrm>
            <a:off x="6177312" y="4623141"/>
            <a:ext cx="520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/>
                </a:solidFill>
              </a:rPr>
              <a:t>0.1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A88FB8-7B89-5904-4E41-5AF2076FED9D}"/>
              </a:ext>
            </a:extLst>
          </p:cNvPr>
          <p:cNvSpPr txBox="1"/>
          <p:nvPr/>
        </p:nvSpPr>
        <p:spPr>
          <a:xfrm>
            <a:off x="6195287" y="4869992"/>
            <a:ext cx="520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/>
                </a:solidFill>
              </a:rPr>
              <a:t>0.1</a:t>
            </a:r>
          </a:p>
        </p:txBody>
      </p:sp>
    </p:spTree>
    <p:extLst>
      <p:ext uri="{BB962C8B-B14F-4D97-AF65-F5344CB8AC3E}">
        <p14:creationId xmlns:p14="http://schemas.microsoft.com/office/powerpoint/2010/main" val="2885067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7AAA-5DC2-C2D8-5C3B-B5331C271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iagramBg">
            <a:extLst>
              <a:ext uri="{FF2B5EF4-FFF2-40B4-BE49-F238E27FC236}">
                <a16:creationId xmlns:a16="http://schemas.microsoft.com/office/drawing/2014/main" id="{3DE5F460-5D8D-1717-8047-6955011465C0}"/>
              </a:ext>
            </a:extLst>
          </p:cNvPr>
          <p:cNvSpPr>
            <a:spLocks noGrp="1"/>
          </p:cNvSpPr>
          <p:nvPr/>
        </p:nvSpPr>
        <p:spPr>
          <a:xfrm>
            <a:off x="501650" y="4078182"/>
            <a:ext cx="11058234" cy="1984586"/>
          </a:xfrm>
          <a:prstGeom prst="roundRect">
            <a:avLst>
              <a:gd name="adj" fmla="val 8248"/>
            </a:avLst>
          </a:prstGeom>
          <a:solidFill>
            <a:srgbClr val="F5F8FF"/>
          </a:solidFill>
          <a:ln w="19050">
            <a:solidFill>
              <a:srgbClr val="B0C4DE"/>
            </a:solidFill>
          </a:ln>
        </p:spPr>
        <p:txBody>
          <a:bodyPr/>
          <a:lstStyle/>
          <a:p>
            <a:endParaRPr/>
          </a:p>
        </p:txBody>
      </p:sp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4815E753-69B7-7673-B7CB-E5C66C8EF6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008582"/>
              </p:ext>
            </p:extLst>
          </p:nvPr>
        </p:nvGraphicFramePr>
        <p:xfrm>
          <a:off x="924871" y="2274819"/>
          <a:ext cx="69405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13000" imgH="380880" progId="Equation.DSMT4">
                  <p:embed/>
                </p:oleObj>
              </mc:Choice>
              <mc:Fallback>
                <p:oleObj name="Equation" r:id="rId2" imgW="32130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4871" y="2274819"/>
                        <a:ext cx="6940550" cy="82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3829CD4-5C25-4192-0972-807784887B39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3.2 CPARMS-WMF Loss Function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2EE563-AF24-F614-06A4-A047643C27E4}"/>
              </a:ext>
            </a:extLst>
          </p:cNvPr>
          <p:cNvSpPr txBox="1"/>
          <p:nvPr/>
        </p:nvSpPr>
        <p:spPr>
          <a:xfrm>
            <a:off x="632116" y="1831994"/>
            <a:ext cx="5463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WMF (Standard Model)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8F734A-FFB2-6CA5-95A3-0CD516E081EC}"/>
              </a:ext>
            </a:extLst>
          </p:cNvPr>
          <p:cNvSpPr txBox="1"/>
          <p:nvPr/>
        </p:nvSpPr>
        <p:spPr>
          <a:xfrm>
            <a:off x="632116" y="4211894"/>
            <a:ext cx="5463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CPARMS-WMF (Proposed Model)</a:t>
            </a: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59C042D5-083F-B11D-BE61-1E3F7B48E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738825"/>
              </p:ext>
            </p:extLst>
          </p:nvPr>
        </p:nvGraphicFramePr>
        <p:xfrm>
          <a:off x="930275" y="3097144"/>
          <a:ext cx="237172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560" imgH="228600" progId="Equation.DSMT4">
                  <p:embed/>
                </p:oleObj>
              </mc:Choice>
              <mc:Fallback>
                <p:oleObj name="Equation" r:id="rId4" imgW="1231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30275" y="3097144"/>
                        <a:ext cx="2371725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38450B20-EDE4-B3A9-D2E0-6F9D9FED51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547842"/>
              </p:ext>
            </p:extLst>
          </p:nvPr>
        </p:nvGraphicFramePr>
        <p:xfrm>
          <a:off x="924871" y="4659313"/>
          <a:ext cx="102584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749480" imgH="380880" progId="Equation.DSMT4">
                  <p:embed/>
                </p:oleObj>
              </mc:Choice>
              <mc:Fallback>
                <p:oleObj name="Equation" r:id="rId6" imgW="4749480" imgH="38088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4815E753-69B7-7673-B7CB-E5C66C8EF6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4871" y="4659313"/>
                        <a:ext cx="10258425" cy="82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82BA7C69-9441-3209-0230-A301197D87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881628"/>
              </p:ext>
            </p:extLst>
          </p:nvPr>
        </p:nvGraphicFramePr>
        <p:xfrm>
          <a:off x="1060741" y="5482117"/>
          <a:ext cx="237172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560" imgH="228600" progId="Equation.DSMT4">
                  <p:embed/>
                </p:oleObj>
              </mc:Choice>
              <mc:Fallback>
                <p:oleObj name="Equation" r:id="rId4" imgW="1231560" imgH="22860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59C042D5-083F-B11D-BE61-1E3F7B48E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0741" y="5482117"/>
                        <a:ext cx="2371725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Rectangle 64">
            <a:extLst>
              <a:ext uri="{FF2B5EF4-FFF2-40B4-BE49-F238E27FC236}">
                <a16:creationId xmlns:a16="http://schemas.microsoft.com/office/drawing/2014/main" id="{2213C4C8-96F6-C964-5474-CD0B8F5C01F8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B5E5556-4BF6-E534-2620-BC48586D0D52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E0749F-37F2-0D16-3E40-132FDCA87F8E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C9E91DC-9E16-5FB1-ACD9-D7F92D1B3F80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C89D64-8E32-1826-CCA2-8573A0E800C3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ED43335-0792-7741-31B8-990901EE550A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A5918DB-7297-5777-372C-8A3AFA077012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6F81BAB-9024-7F42-4DD7-F2D6426B644B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BE91176-FC00-E00D-22C4-22F358AEA770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AEF834C-6AB6-D21C-310A-DA8EF32D7548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2FA1D6D-5029-F2B8-2DAE-FCA5785D0DD4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7A5F3F2-C083-1EF2-FF65-A72949299474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079DE7-11A1-2521-EF6C-91C1BAA41AEE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45C2407-9AFD-CD0D-51E3-74E6EFFC2F81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7D35119-2829-1430-294C-074EFB51C33E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2" name="Footer Placeholder 19">
            <a:extLst>
              <a:ext uri="{FF2B5EF4-FFF2-40B4-BE49-F238E27FC236}">
                <a16:creationId xmlns:a16="http://schemas.microsoft.com/office/drawing/2014/main" id="{C646AB46-827A-EE5C-BD22-6923A91FC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3" name="Slide Number Placeholder 20">
            <a:extLst>
              <a:ext uri="{FF2B5EF4-FFF2-40B4-BE49-F238E27FC236}">
                <a16:creationId xmlns:a16="http://schemas.microsoft.com/office/drawing/2014/main" id="{C536A7EE-A44E-9C02-3E8C-3DB419131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12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18">
            <a:extLst>
              <a:ext uri="{FF2B5EF4-FFF2-40B4-BE49-F238E27FC236}">
                <a16:creationId xmlns:a16="http://schemas.microsoft.com/office/drawing/2014/main" id="{131726D5-8FC2-7829-312F-1557712DB6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3442932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02353-4124-9584-EDF3-8D5BB4FD1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iagramBg">
            <a:extLst>
              <a:ext uri="{FF2B5EF4-FFF2-40B4-BE49-F238E27FC236}">
                <a16:creationId xmlns:a16="http://schemas.microsoft.com/office/drawing/2014/main" id="{6E7D880A-6B23-4D71-24A4-D8D33A743F1D}"/>
              </a:ext>
            </a:extLst>
          </p:cNvPr>
          <p:cNvSpPr>
            <a:spLocks noGrp="1"/>
          </p:cNvSpPr>
          <p:nvPr/>
        </p:nvSpPr>
        <p:spPr>
          <a:xfrm>
            <a:off x="6274340" y="1193736"/>
            <a:ext cx="5285544" cy="5207064"/>
          </a:xfrm>
          <a:prstGeom prst="roundRect">
            <a:avLst>
              <a:gd name="adj" fmla="val 8248"/>
            </a:avLst>
          </a:prstGeom>
          <a:solidFill>
            <a:srgbClr val="F5F8FF"/>
          </a:solidFill>
          <a:ln w="19050">
            <a:solidFill>
              <a:srgbClr val="B0C4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7E1555-5455-CBA1-0AD3-8845B78B0611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3.3 Dataset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8789F9DA-C5D8-D2AC-6B6B-6B02920C08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7207204"/>
              </p:ext>
            </p:extLst>
          </p:nvPr>
        </p:nvGraphicFramePr>
        <p:xfrm>
          <a:off x="6540500" y="1739900"/>
          <a:ext cx="4800600" cy="121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E2984319-7E33-277A-3F10-DBDDAAE5AA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8666328"/>
              </p:ext>
            </p:extLst>
          </p:nvPr>
        </p:nvGraphicFramePr>
        <p:xfrm>
          <a:off x="6540500" y="3365500"/>
          <a:ext cx="4800600" cy="121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3865F026-C3BD-2845-0F9A-CB26E45DC2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7247457"/>
              </p:ext>
            </p:extLst>
          </p:nvPr>
        </p:nvGraphicFramePr>
        <p:xfrm>
          <a:off x="6540500" y="4991100"/>
          <a:ext cx="4800600" cy="121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5DA3DE4-4724-8E4A-2F12-891BC12BBBFA}"/>
              </a:ext>
            </a:extLst>
          </p:cNvPr>
          <p:cNvSpPr txBox="1"/>
          <p:nvPr/>
        </p:nvSpPr>
        <p:spPr>
          <a:xfrm>
            <a:off x="6546513" y="1384300"/>
            <a:ext cx="3143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Number of Users &amp; Items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2F4258-80D0-9791-7789-FA04BB121F0A}"/>
              </a:ext>
            </a:extLst>
          </p:cNvPr>
          <p:cNvSpPr txBox="1"/>
          <p:nvPr/>
        </p:nvSpPr>
        <p:spPr>
          <a:xfrm>
            <a:off x="6546513" y="3009900"/>
            <a:ext cx="3143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% Observed Ratings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265165-CE1B-67CE-4DF5-98818DF1D4C5}"/>
              </a:ext>
            </a:extLst>
          </p:cNvPr>
          <p:cNvSpPr txBox="1"/>
          <p:nvPr/>
        </p:nvSpPr>
        <p:spPr>
          <a:xfrm>
            <a:off x="6546513" y="4635500"/>
            <a:ext cx="3143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% Evaluated Users with 1 Interaction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ADBCE1-D944-83FA-0F1C-FA212F0C1631}"/>
              </a:ext>
            </a:extLst>
          </p:cNvPr>
          <p:cNvSpPr txBox="1"/>
          <p:nvPr/>
        </p:nvSpPr>
        <p:spPr>
          <a:xfrm>
            <a:off x="632116" y="1831994"/>
            <a:ext cx="546388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5 Amazon product categories: Luxury Beauty, Industry (Industrial &amp; Scientific), Pantry, Music, Instruments.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Size varies: Amazon Instruments has the most users/items; Luxury Beauty the fewest.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 datasets are extremely sparse: 99.5%–99.9% of the user-item matrix is unobserved.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Evaluated test populations: 1,019 / 3,904 / 2,722 / 4,080 / 8,541 users (fit-window-restricted, global temporal split); 11–13% hold exactly one positive training interaction — the sparse-history group. Zero-interaction users are excluded.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9DA815D-55F8-6784-9B13-F30C439E474C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FB4BFEF-6EBD-5449-36D5-43C5E90D87D8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6B0A6A-D133-203B-AC4D-6559852AB500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C71E4B5-BE31-E8F1-F078-1944E08CAF5F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3DE777-B28C-1AB5-34A4-335320D4FEED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7319702-96B4-3498-13D9-0910913C4C43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90C78D-CA43-3BDC-BAF8-F2537F6C6516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BA7E5D9-D2C1-440A-B7BB-BA7CA1D54BC4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91F156-0D50-DB51-DD26-60E9F1DBBB42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6F6B39B-636C-707C-B0DC-1A7434448A21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3CB998-EFA9-C4C9-DF79-3F7A3D80DB9F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2099736-212A-4867-F4F1-697A57DF957C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76EB29-4AA3-2FBC-A8A1-EFE36C623909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FC3F6A3-64FD-2601-8435-C938A8A0847B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C6C833-EF14-7CAB-ED5E-1351675D9A0A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2" name="Footer Placeholder 19">
            <a:extLst>
              <a:ext uri="{FF2B5EF4-FFF2-40B4-BE49-F238E27FC236}">
                <a16:creationId xmlns:a16="http://schemas.microsoft.com/office/drawing/2014/main" id="{5E96F54C-E284-1CFD-02C1-9D445E69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3" name="Slide Number Placeholder 20">
            <a:extLst>
              <a:ext uri="{FF2B5EF4-FFF2-40B4-BE49-F238E27FC236}">
                <a16:creationId xmlns:a16="http://schemas.microsoft.com/office/drawing/2014/main" id="{7C14DF80-CED3-A64E-6A82-FD881846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13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18">
            <a:extLst>
              <a:ext uri="{FF2B5EF4-FFF2-40B4-BE49-F238E27FC236}">
                <a16:creationId xmlns:a16="http://schemas.microsoft.com/office/drawing/2014/main" id="{0122DF53-70D9-8F6B-5869-421785D7AC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7AF1E-2B29-794E-73EC-5A833BDD5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94C66AC4-3C4A-29EC-D6EE-BD5D32633875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3.4 Evaluation Metrics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FC61E8-DBAE-6F89-1484-25CD6431E64E}"/>
              </a:ext>
            </a:extLst>
          </p:cNvPr>
          <p:cNvSpPr txBox="1"/>
          <p:nvPr/>
        </p:nvSpPr>
        <p:spPr>
          <a:xfrm>
            <a:off x="632116" y="1831994"/>
            <a:ext cx="546388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Normalized Discounted Cumulative Gain</a:t>
            </a:r>
          </a:p>
          <a:p>
            <a:endParaRPr lang="th-TH" sz="1600" dirty="0"/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NDCG@K</a:t>
            </a:r>
            <a:r>
              <a:rPr lang="en-US" sz="1600" dirty="0"/>
              <a:t> (Normalized Discounted Cumulative Gain) — rewards the model for placing relevant items </a:t>
            </a:r>
            <a:r>
              <a:rPr lang="en-US" sz="1600" b="1" dirty="0"/>
              <a:t>higher</a:t>
            </a:r>
            <a:r>
              <a:rPr lang="en-US" sz="1600" dirty="0"/>
              <a:t> in the list. An item at rank 1 scores more than the same item at rank 5.</a:t>
            </a:r>
          </a:p>
          <a:p>
            <a:pPr marL="742950" lvl="1" indent="-285750">
              <a:buFont typeface="Arial"/>
              <a:buChar char="–"/>
            </a:pPr>
            <a:r>
              <a:rPr lang="en-US" sz="1600" i="1" dirty="0"/>
              <a:t>Setup: </a:t>
            </a:r>
            <a:r>
              <a:rPr lang="en-US" sz="1600" dirty="0"/>
              <a:t>user actually read Lord of the Rings. Model recommends Top-5:</a:t>
            </a:r>
          </a:p>
          <a:p>
            <a:pPr marL="742950" lvl="1" indent="-285750">
              <a:buFont typeface="Arial"/>
              <a:buChar char="–"/>
            </a:pPr>
            <a:r>
              <a:rPr lang="en-US" sz="1600" b="1" dirty="0"/>
              <a:t>Model A: </a:t>
            </a:r>
            <a:r>
              <a:rPr lang="en-US" sz="1600" dirty="0"/>
              <a:t>[Lord of the Rings✓, X, X, X, X] → higher NDCG (hit at rank 1)</a:t>
            </a:r>
          </a:p>
          <a:p>
            <a:pPr marL="742950" lvl="1" indent="-285750">
              <a:buFont typeface="Arial"/>
              <a:buChar char="–"/>
            </a:pPr>
            <a:r>
              <a:rPr lang="en-US" sz="1600" b="1" dirty="0"/>
              <a:t>Model B: </a:t>
            </a:r>
            <a:r>
              <a:rPr lang="en-US" sz="1600" dirty="0"/>
              <a:t>[X, X, X, X, Lord of the Rings✓] → lower NDCG (same item, buried at rank 5)</a:t>
            </a:r>
          </a:p>
          <a:p>
            <a:pPr marL="742950" lvl="1" indent="-285750">
              <a:buFont typeface="Arial"/>
              <a:buChar char="–"/>
            </a:pPr>
            <a:endParaRPr lang="th-TH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Unlike rating prediction (e.g., RMSE), ranking evaluation measures how well the model orders items by relevance.</a:t>
            </a:r>
            <a:endParaRPr lang="th-TH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82958A-8C46-EE7F-44EC-EB34B015624B}"/>
              </a:ext>
            </a:extLst>
          </p:cNvPr>
          <p:cNvSpPr txBox="1"/>
          <p:nvPr/>
        </p:nvSpPr>
        <p:spPr>
          <a:xfrm>
            <a:off x="6096000" y="1831993"/>
            <a:ext cx="5463884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Evaluation Protocol</a:t>
            </a:r>
          </a:p>
          <a:p>
            <a:pPr marL="285750" indent="-285750">
              <a:buFont typeface="Arial"/>
              <a:buChar char="•"/>
            </a:pPr>
            <a:endParaRPr lang="en-US" sz="1600" b="1" dirty="0"/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Relevance:</a:t>
            </a:r>
            <a:r>
              <a:rPr lang="en-US" sz="1600" dirty="0"/>
              <a:t> an item is relevant when its held-out rating &gt; 3; previously observed items are </a:t>
            </a:r>
            <a:r>
              <a:rPr lang="en-US" sz="1600" b="1" dirty="0"/>
              <a:t>masked</a:t>
            </a:r>
            <a:r>
              <a:rPr lang="en-US" sz="1600" dirty="0"/>
              <a:t> from the candidate list before ranking.</a:t>
            </a:r>
            <a:endParaRPr lang="th-TH" sz="1600" dirty="0"/>
          </a:p>
          <a:p>
            <a:pPr marL="285750" indent="-285750">
              <a:buFont typeface="Arial"/>
              <a:buChar char="•"/>
            </a:pPr>
            <a:endParaRPr lang="th-TH" sz="1600" b="1" dirty="0"/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Cutoffs: </a:t>
            </a:r>
            <a:r>
              <a:rPr lang="en-US" sz="1600" dirty="0"/>
              <a:t>NDCG@10 is the primary metric for model selection; NDCG@20, @50, @100 and @200 are secondary.</a:t>
            </a:r>
            <a:endParaRPr lang="th-TH" sz="1600" dirty="0"/>
          </a:p>
          <a:p>
            <a:pPr marL="742950" lvl="1" indent="-285750">
              <a:buFont typeface="Arial"/>
              <a:buChar char="–"/>
            </a:pPr>
            <a:endParaRPr lang="en-US" sz="1600" dirty="0"/>
          </a:p>
          <a:p>
            <a:pPr marL="742950" lvl="1" indent="-285750">
              <a:buFont typeface="Arial"/>
              <a:buChar char="–"/>
            </a:pPr>
            <a:r>
              <a:rPr lang="en-US" sz="1600" i="1" dirty="0"/>
              <a:t>Per group: </a:t>
            </a:r>
            <a:r>
              <a:rPr lang="en-US" sz="1600" dirty="0"/>
              <a:t>NDCG is reported overall and per activity group (1, 2, 3+ positive training interactions; 0-interaction users are excluded).</a:t>
            </a:r>
          </a:p>
          <a:p>
            <a:pPr marL="742950" lvl="1" indent="-285750">
              <a:buFont typeface="Arial"/>
              <a:buChar char="–"/>
            </a:pPr>
            <a:r>
              <a:rPr lang="en-US" sz="1600" b="1" dirty="0"/>
              <a:t>Averaging: </a:t>
            </a:r>
            <a:r>
              <a:rPr lang="en-US" sz="1600" dirty="0"/>
              <a:t>mean ± standard deviation over 5 random seeds (42–46).</a:t>
            </a:r>
          </a:p>
          <a:p>
            <a:pPr marL="742950" lvl="1" indent="-285750">
              <a:buFont typeface="Arial"/>
              <a:buChar char="–"/>
            </a:pPr>
            <a:r>
              <a:rPr lang="en-US" sz="1600" b="1" dirty="0"/>
              <a:t>Why NDCG: </a:t>
            </a:r>
            <a:r>
              <a:rPr lang="en-US" sz="1600" dirty="0"/>
              <a:t>the goal is to rank relevant items at the top, not predict absolute ratings (e.g., RMSE).</a:t>
            </a:r>
          </a:p>
          <a:p>
            <a:pPr marL="742950" lvl="1" indent="-285750">
              <a:buFont typeface="Arial"/>
              <a:buChar char="–"/>
            </a:pPr>
            <a:r>
              <a:rPr lang="en-US" sz="1600" dirty="0"/>
              <a:t>Ties are broken deterministically by item index.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AE95BD8-1239-9DBB-7D20-2446F2C94DF3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373B93E-1B40-F1FD-9C3D-976D4B8AB748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B06B998-07F4-4332-E4C6-6B6C1AC73D32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AA4C204-0E8A-6F54-834E-7C5DCDBDCB9D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6673833-0EEC-27FD-7B8A-B090D19EBF5A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4139E12-BF9F-287A-0372-F428FDE4850C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BCDF3C2-2E56-98B0-6D98-66EA623DAF11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9AF60FE-CD67-75BD-F0AB-98B6C5658B01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0771EDB-56DC-504E-ADC9-145BD301F733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6B68D56-5043-C8FF-E3FB-25F677AEB8BE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E192848-E4B1-7C90-C2B7-E91F8C21B24A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7A13DE1-3A7D-5414-B8AA-D4EE101AFDB1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2D00EA6-B894-FE5D-7FB4-C1D1B2526C0C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CC1C509-B5C6-E11B-2EF4-A7036B1178AC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E91E837-16E3-5BC2-853C-628948EDA109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3" name="Footer Placeholder 19">
            <a:extLst>
              <a:ext uri="{FF2B5EF4-FFF2-40B4-BE49-F238E27FC236}">
                <a16:creationId xmlns:a16="http://schemas.microsoft.com/office/drawing/2014/main" id="{F17E6036-3A5B-2A37-1221-1FFE12466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4" name="Slide Number Placeholder 20">
            <a:extLst>
              <a:ext uri="{FF2B5EF4-FFF2-40B4-BE49-F238E27FC236}">
                <a16:creationId xmlns:a16="http://schemas.microsoft.com/office/drawing/2014/main" id="{9273061F-8AF5-2331-A8F2-9994FA23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14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Date Placeholder 18">
            <a:extLst>
              <a:ext uri="{FF2B5EF4-FFF2-40B4-BE49-F238E27FC236}">
                <a16:creationId xmlns:a16="http://schemas.microsoft.com/office/drawing/2014/main" id="{FE502F09-F14D-EDFE-6B4A-0870E9A216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1650683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75E2E-FEE2-DA75-438D-0C283E649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011FC470-B7A3-1AF1-012B-D34B715DD9E9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3.5 Hyperparameter Space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FBDBEE3-9EE0-FD42-96E7-3AAC65C12370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41AF705-8482-8206-06DC-7A4F35C08203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25F105D-BB5E-9776-65A7-138BE151BD88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3413A41-B4A3-2942-4C4E-5AC806F46589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6B63FD3-A622-634F-F02D-EC76AD4165B2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6AF66BD-36EC-5750-BC59-4DC8E0A1271D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596E690-8151-88B9-4497-ED8CEB08A920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814DA9B-9F2C-6BFB-9422-BA2FDC3B3A56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E1BF2DC-91B1-6B59-F0B8-3D4C93D4ED90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C1D3B44-03D2-79A3-B66B-10DB07274165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BE7640A-8E9C-34E9-90F0-C82E2F145626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C7BBD88-9C66-72A5-F2DC-80E1CD9134BB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B1B5B1F-BB10-12C2-4DB2-89574284F250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E06681B-4086-7780-FD44-B8C4F0B69996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D3E327A-C97B-6846-D069-1CA434B62DAD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2" name="Footer Placeholder 19">
            <a:extLst>
              <a:ext uri="{FF2B5EF4-FFF2-40B4-BE49-F238E27FC236}">
                <a16:creationId xmlns:a16="http://schemas.microsoft.com/office/drawing/2014/main" id="{A99DB6BD-E6E2-4C1C-1174-F387C964B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3" name="Slide Number Placeholder 20">
            <a:extLst>
              <a:ext uri="{FF2B5EF4-FFF2-40B4-BE49-F238E27FC236}">
                <a16:creationId xmlns:a16="http://schemas.microsoft.com/office/drawing/2014/main" id="{9781CC93-A815-191D-1F7F-598B2A4D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15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18">
            <a:extLst>
              <a:ext uri="{FF2B5EF4-FFF2-40B4-BE49-F238E27FC236}">
                <a16:creationId xmlns:a16="http://schemas.microsoft.com/office/drawing/2014/main" id="{6F09530D-258A-B778-24AF-8D59EDB988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  <p:graphicFrame>
        <p:nvGraphicFramePr>
          <p:cNvPr id="110" name="Table 109"/>
          <p:cNvGraphicFramePr>
            <a:graphicFrameLocks noGrp="1"/>
          </p:cNvGraphicFramePr>
          <p:nvPr/>
        </p:nvGraphicFramePr>
        <p:xfrm>
          <a:off x="501650" y="1650000"/>
          <a:ext cx="11188700" cy="47879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0000"/>
                <a:gridCol w="3300000"/>
                <a:gridCol w="1500000"/>
                <a:gridCol w="39387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Hyperparameter</a:t>
                      </a:r>
                    </a:p>
                  </a:txBody>
                  <a:tcPr marL="60000" marR="60000" marT="20000" marB="20000" anchor="ctr">
                    <a:solidFill>
                      <a:srgbClr val="1F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Search Space</a:t>
                      </a:r>
                    </a:p>
                  </a:txBody>
                  <a:tcPr marL="60000" marR="60000" marT="20000" marB="20000" anchor="ctr">
                    <a:solidFill>
                      <a:srgbClr val="1F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Applies to</a:t>
                      </a:r>
                    </a:p>
                  </a:txBody>
                  <a:tcPr marL="60000" marR="60000" marT="20000" marB="20000" anchor="ctr">
                    <a:solidFill>
                      <a:srgbClr val="1F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60000" marR="60000" marT="20000" marB="20000" anchor="ctr">
                    <a:solidFill>
                      <a:srgbClr val="1F3D5C"/>
                    </a:solidFill>
                  </a:tcPr>
                </a:tc>
              </a:tr>
              <a:tr h="316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Latent dimension K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{10, 20, 30, 40}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D5C"/>
                          </a:solidFill>
                        </a:rPr>
                        <a:t>all WMF</a:t>
                      </a:r>
                    </a:p>
                  </a:txBody>
                  <a:tcPr marL="60000" marR="60000" marT="20000" marB="2000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latent factors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316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Regularization λ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{0.0001, 0.001, 0.01, 0.1}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D5C"/>
                          </a:solidFill>
                        </a:rPr>
                        <a:t>all WMF</a:t>
                      </a:r>
                    </a:p>
                  </a:txBody>
                  <a:tcPr marL="60000" marR="60000" marT="20000" marB="2000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ℓ₂ penalty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316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ALS sweeps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{15, 20, 25, 30}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D5C"/>
                          </a:solidFill>
                        </a:rPr>
                        <a:t>all WMF</a:t>
                      </a:r>
                    </a:p>
                  </a:txBody>
                  <a:tcPr marL="60000" marR="60000" marT="20000" marB="2000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ALS iterations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316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Confidence α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{10, 20, 40, 80}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D5C"/>
                          </a:solidFill>
                        </a:rPr>
                        <a:t>all WMF</a:t>
                      </a:r>
                    </a:p>
                  </a:txBody>
                  <a:tcPr marL="60000" marR="60000" marT="20000" marB="20000" anchor="ctr">
                    <a:solidFill>
                      <a:srgbClr val="D9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confidence on positives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316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Signal weight γ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{0.5, 1.0, 2.0, 4.0}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500B"/>
                          </a:solidFill>
                        </a:rPr>
                        <a:t>CPARMS</a:t>
                      </a:r>
                    </a:p>
                  </a:txBody>
                  <a:tcPr marL="60000" marR="60000" marT="20000" marB="20000" anchor="ctr">
                    <a:solidFill>
                      <a:srgbClr val="F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signal-reconstruction weight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316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Signal normalization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{row_max, log_row_max}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500B"/>
                          </a:solidFill>
                        </a:rPr>
                        <a:t>CPARMS</a:t>
                      </a:r>
                    </a:p>
                  </a:txBody>
                  <a:tcPr marL="60000" marR="60000" marT="20000" marB="20000" anchor="ctr">
                    <a:solidFill>
                      <a:srgbClr val="F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signal scaling mode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316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User clusters K_U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{1, 2, 3, 5}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500B"/>
                          </a:solidFill>
                        </a:rPr>
                        <a:t>CPARMS</a:t>
                      </a:r>
                    </a:p>
                  </a:txBody>
                  <a:tcPr marL="60000" marR="60000" marT="20000" marB="20000" anchor="ctr">
                    <a:solidFill>
                      <a:srgbClr val="F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user clusters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316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Item clusters K_I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{1, 2, 3, 5}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500B"/>
                          </a:solidFill>
                        </a:rPr>
                        <a:t>CPARMS</a:t>
                      </a:r>
                    </a:p>
                  </a:txBody>
                  <a:tcPr marL="60000" marR="60000" marT="20000" marB="20000" anchor="ctr">
                    <a:solidFill>
                      <a:srgbClr val="F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item clusters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316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Min. support σ_min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{0, 5e-5, 1e-4, 3e-4}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500B"/>
                          </a:solidFill>
                        </a:rPr>
                        <a:t>CPARMS</a:t>
                      </a:r>
                    </a:p>
                  </a:txBody>
                  <a:tcPr marL="60000" marR="60000" marT="20000" marB="20000" anchor="ctr">
                    <a:solidFill>
                      <a:srgbClr val="F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support noise filter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316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Min. confidence ρ_min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{0, 5e-4, 1e-3, 2e-3}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500B"/>
                          </a:solidFill>
                        </a:rPr>
                        <a:t>CPARMS</a:t>
                      </a:r>
                    </a:p>
                  </a:txBody>
                  <a:tcPr marL="60000" marR="60000" marT="20000" marB="20000" anchor="ctr">
                    <a:solidFill>
                      <a:srgbClr val="F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confidence noise filter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316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Min. lift ℓ_min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{0, 0.2, 0.5, 0.8}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500B"/>
                          </a:solidFill>
                        </a:rPr>
                        <a:t>CPARMS</a:t>
                      </a:r>
                    </a:p>
                  </a:txBody>
                  <a:tcPr marL="60000" marR="60000" marT="20000" marB="20000" anchor="ctr">
                    <a:solidFill>
                      <a:srgbClr val="F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lift noise filter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316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Relative WMF scale ℓ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{0.01, 0.05, 0.1, 0.5, 1, 5, 10}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6D23"/>
                          </a:solidFill>
                        </a:rPr>
                        <a:t>CoFactor</a:t>
                      </a:r>
                    </a:p>
                  </a:txBody>
                  <a:tcPr marL="60000" marR="60000" marT="20000" marB="200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sets γ_co = 1/ℓ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316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SPPMI shift k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{1, 2, 5, 10, 50}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6D23"/>
                          </a:solidFill>
                        </a:rPr>
                        <a:t>CoFactor</a:t>
                      </a:r>
                    </a:p>
                  </a:txBody>
                  <a:tcPr marL="60000" marR="60000" marT="20000" marB="200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negative samples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  <a:tr h="316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Context regularization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derived: λ_ctx = γ_co·λ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6D23"/>
                          </a:solidFill>
                        </a:rPr>
                        <a:t>CoFactor</a:t>
                      </a:r>
                    </a:p>
                  </a:txBody>
                  <a:tcPr marL="60000" marR="60000" marT="20000" marB="20000" anchor="ctr"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</a:rPr>
                        <a:t>not searched (derived)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653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483AD-6088-46A3-CAA7-24367DDD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05F33DB0-33DA-0365-FC19-281F4297FC49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3.6 Search Strategy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401F84-7F5C-3CAB-D310-D4EC1590DC36}"/>
              </a:ext>
            </a:extLst>
          </p:cNvPr>
          <p:cNvSpPr txBox="1"/>
          <p:nvPr/>
        </p:nvSpPr>
        <p:spPr>
          <a:xfrm>
            <a:off x="632116" y="1831994"/>
            <a:ext cx="54638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Randomized Search</a:t>
            </a:r>
            <a:r>
              <a:rPr lang="en-US" sz="1600" dirty="0"/>
              <a:t> — randomly samples configurations instead of exhaustive grid, reducing compute cost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BE1034-5E6B-3395-BC80-DA190D784A97}"/>
              </a:ext>
            </a:extLst>
          </p:cNvPr>
          <p:cNvSpPr txBox="1"/>
          <p:nvPr/>
        </p:nvSpPr>
        <p:spPr>
          <a:xfrm>
            <a:off x="6096000" y="1831993"/>
            <a:ext cx="54638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Search target: maximize NDCG@10</a:t>
            </a:r>
            <a:r>
              <a:rPr lang="en-US" sz="1600" dirty="0"/>
              <a:t> on the validation set — best config selected from 30 aligned configurations sampled per seed</a:t>
            </a:r>
          </a:p>
          <a:p>
            <a:pPr marL="571500" indent="-285750">
              <a:buFont typeface="Arial"/>
              <a:buChar char="–"/>
            </a:pPr>
            <a:r>
              <a:rPr lang="en-US" sz="1600" dirty="0"/>
              <a:t>NDCG@10 measures top-10 ranking quality — higher-ranked hits score more, rewarding models that surface relevant items early.</a:t>
            </a:r>
          </a:p>
          <a:p>
            <a:pPr marL="571500" indent="-285750">
              <a:buFont typeface="Arial"/>
              <a:buChar char="–"/>
            </a:pP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5 random seeds (42–46)</a:t>
            </a:r>
            <a:r>
              <a:rPr lang="en-US" sz="1600" dirty="0"/>
              <a:t> per model; results reported as mean ± standard deviation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29E772A-5DBB-414B-82AF-EEDA7BF8ED0F}"/>
              </a:ext>
            </a:extLst>
          </p:cNvPr>
          <p:cNvSpPr/>
          <p:nvPr/>
        </p:nvSpPr>
        <p:spPr>
          <a:xfrm>
            <a:off x="835816" y="2887377"/>
            <a:ext cx="5117512" cy="3046698"/>
          </a:xfrm>
          <a:prstGeom prst="roundRect">
            <a:avLst>
              <a:gd name="adj" fmla="val 12332"/>
            </a:avLst>
          </a:prstGeom>
          <a:solidFill>
            <a:srgbClr val="E8F4FD"/>
          </a:solidFill>
          <a:ln w="19050" cap="flat" cmpd="sng" algn="ctr">
            <a:solidFill>
              <a:srgbClr val="2196F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E1748B-88D4-445F-9ABE-E9912F4201F3}"/>
              </a:ext>
            </a:extLst>
          </p:cNvPr>
          <p:cNvSpPr/>
          <p:nvPr/>
        </p:nvSpPr>
        <p:spPr>
          <a:xfrm>
            <a:off x="832438" y="2866075"/>
            <a:ext cx="5127240" cy="406400"/>
          </a:xfrm>
          <a:prstGeom prst="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274DFE-9172-4093-9D8C-5B5BC7262CC4}"/>
              </a:ext>
            </a:extLst>
          </p:cNvPr>
          <p:cNvSpPr txBox="1"/>
          <p:nvPr/>
        </p:nvSpPr>
        <p:spPr>
          <a:xfrm>
            <a:off x="927688" y="2916875"/>
            <a:ext cx="5257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FFFF"/>
                </a:solidFill>
              </a:rPr>
              <a:t>🛠 Random Search — How it Works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AFE944-EE47-4CB5-A80D-6D600633E027}"/>
              </a:ext>
            </a:extLst>
          </p:cNvPr>
          <p:cNvSpPr txBox="1"/>
          <p:nvPr/>
        </p:nvSpPr>
        <p:spPr>
          <a:xfrm>
            <a:off x="953088" y="3348674"/>
            <a:ext cx="4834870" cy="2281013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300" b="1" dirty="0">
                <a:solidFill>
                  <a:srgbClr val="1565C0"/>
                </a:solidFill>
              </a:rPr>
              <a:t>What it does: </a:t>
            </a:r>
            <a:r>
              <a:rPr lang="en-US" sz="1300" dirty="0">
                <a:solidFill>
                  <a:srgbClr val="1A3A5C"/>
                </a:solidFill>
              </a:rPr>
              <a:t>Randomly samples N hyperparameter combinations instead of testing every combination (grid search), cutting compute cost.</a:t>
            </a:r>
          </a:p>
          <a:p>
            <a:pPr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1565C0"/>
                </a:solidFill>
              </a:rPr>
              <a:t>Why it works: </a:t>
            </a:r>
            <a:r>
              <a:rPr lang="en-US" sz="1300" dirty="0">
                <a:solidFill>
                  <a:srgbClr val="1A3A5C"/>
                </a:solidFill>
              </a:rPr>
              <a:t>Most hyperparameters have little effect, so random sampling covers the important dimensions more efficiently than a rigid grid.</a:t>
            </a:r>
          </a:p>
          <a:p>
            <a:pPr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1565C0"/>
                </a:solidFill>
              </a:rPr>
              <a:t>In this project: </a:t>
            </a:r>
            <a:r>
              <a:rPr lang="en-US" sz="1300" dirty="0">
                <a:solidFill>
                  <a:srgbClr val="1A3A5C"/>
                </a:solidFill>
              </a:rPr>
              <a:t>30 configurations sampled once per seed, reused across all 5 datasets → best config chosen by validation NDCG@10, retrained on train+val; mean ± SD over 5 seeds (42–46).</a:t>
            </a:r>
          </a:p>
          <a:p>
            <a:pPr>
              <a:spcBef>
                <a:spcPts val="600"/>
              </a:spcBef>
              <a:buNone/>
            </a:pPr>
            <a:r>
              <a:rPr lang="en-US" sz="1200" i="1" dirty="0">
                <a:solidFill>
                  <a:srgbClr val="546E7A"/>
                </a:solidFill>
              </a:rPr>
              <a:t>Grid Search: tests all N×M combos • Random Search: samples N from N×M space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A409DD4-546C-2810-0EAD-155C491BED27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FA6DF41-BD41-A5E5-9B26-161FA6992C41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7BDA7B6-18ED-726D-670B-A4FA45A5523A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33B6BF6-D11B-3B1E-97A8-06A4848530C1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E789DF5-3212-A241-3D92-B8A6E9885552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CD664C2-36B5-BB69-7C96-081AB94C026F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33C3585-A7A7-0282-824C-5E8115B96FC7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BA6F712-34DD-68B1-54A2-42AC9720D938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3685312-0539-84DD-8E5F-11A6B56DF6EF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05F2CC0-F562-9983-A0C0-4CE0931825DD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D4CD43E-B5F1-C7F5-7F11-2C47497B191F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E5DE7E8-6413-D9B2-7FD3-8C6966789C3C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A5A255B-C2EB-21FF-3600-FFA3DC7229B3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FE0959C-49AB-B12D-DF57-FDBDD1426691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C10CEDD-C411-A390-59BF-484E17BE7762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3" name="Footer Placeholder 19">
            <a:extLst>
              <a:ext uri="{FF2B5EF4-FFF2-40B4-BE49-F238E27FC236}">
                <a16:creationId xmlns:a16="http://schemas.microsoft.com/office/drawing/2014/main" id="{967F03A3-A789-7B12-ADC7-0A49D6339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4" name="Slide Number Placeholder 20">
            <a:extLst>
              <a:ext uri="{FF2B5EF4-FFF2-40B4-BE49-F238E27FC236}">
                <a16:creationId xmlns:a16="http://schemas.microsoft.com/office/drawing/2014/main" id="{D0E6A35E-524C-05E6-F411-CCD8E87D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16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Date Placeholder 18">
            <a:extLst>
              <a:ext uri="{FF2B5EF4-FFF2-40B4-BE49-F238E27FC236}">
                <a16:creationId xmlns:a16="http://schemas.microsoft.com/office/drawing/2014/main" id="{F89654DF-46FE-A581-ED1D-3EAB5CC29B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3308801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19259-4C4A-2589-EAC9-5426549D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BF40FC32-5102-C22A-F6C8-DD4667D7E505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3.7 Data Split Strategy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EC7D36-982A-5FA9-5D7B-99E61C2591A5}"/>
              </a:ext>
            </a:extLst>
          </p:cNvPr>
          <p:cNvSpPr txBox="1"/>
          <p:nvPr/>
        </p:nvSpPr>
        <p:spPr>
          <a:xfrm>
            <a:off x="632116" y="1831994"/>
            <a:ext cx="48796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400" b="1" dirty="0"/>
              <a:t>Global Temporal Split </a:t>
            </a:r>
            <a:r>
              <a:rPr lang="en-US" sz="1400" dirty="0"/>
              <a:t>— All interactions are sorted by </a:t>
            </a:r>
            <a:r>
              <a:rPr lang="en-US" sz="1400" b="1" dirty="0"/>
              <a:t>timestamp</a:t>
            </a:r>
            <a:r>
              <a:rPr lang="en-US" sz="1400" dirty="0"/>
              <a:t> globally</a:t>
            </a:r>
          </a:p>
          <a:p>
            <a:pPr marL="685800" lvl="1" indent="-228600">
              <a:buFont typeface="Arial"/>
              <a:buChar char="•"/>
            </a:pPr>
            <a:r>
              <a:rPr lang="en-US" sz="1400" b="1" dirty="0"/>
              <a:t>Earliest 70%</a:t>
            </a:r>
            <a:r>
              <a:rPr lang="en-US" sz="1400" dirty="0"/>
              <a:t> → </a:t>
            </a:r>
            <a:r>
              <a:rPr lang="en-US" sz="1400" b="1" dirty="0"/>
              <a:t>Training set</a:t>
            </a:r>
            <a:r>
              <a:rPr lang="en-US" sz="1400" dirty="0"/>
              <a:t> — used to learn user/item latent vectors</a:t>
            </a:r>
          </a:p>
          <a:p>
            <a:pPr marL="685800" lvl="1" indent="-228600">
              <a:buFont typeface="Arial"/>
              <a:buChar char="•"/>
            </a:pPr>
            <a:r>
              <a:rPr lang="en-US" sz="1400" dirty="0"/>
              <a:t>Next </a:t>
            </a:r>
            <a:r>
              <a:rPr lang="en-US" sz="1400" b="1" dirty="0"/>
              <a:t>10%</a:t>
            </a:r>
            <a:r>
              <a:rPr lang="en-US" sz="1400" dirty="0"/>
              <a:t> → </a:t>
            </a:r>
            <a:r>
              <a:rPr lang="en-US" sz="1400" b="1" dirty="0"/>
              <a:t>Validation set</a:t>
            </a:r>
            <a:r>
              <a:rPr lang="en-US" sz="1400" dirty="0"/>
              <a:t> — hyperparameter tuning</a:t>
            </a:r>
          </a:p>
          <a:p>
            <a:pPr marL="685800" lvl="1" indent="-228600">
              <a:buFont typeface="Arial"/>
              <a:buChar char="•"/>
            </a:pPr>
            <a:r>
              <a:rPr lang="en-US" sz="1400" dirty="0"/>
              <a:t>Final </a:t>
            </a:r>
            <a:r>
              <a:rPr lang="en-US" sz="1400" b="1" dirty="0"/>
              <a:t>20%</a:t>
            </a:r>
            <a:r>
              <a:rPr lang="en-US" sz="1400" dirty="0"/>
              <a:t> → </a:t>
            </a:r>
            <a:r>
              <a:rPr lang="en-US" sz="1400" b="1" dirty="0"/>
              <a:t>Test set</a:t>
            </a:r>
            <a:r>
              <a:rPr lang="en-US" sz="1400" dirty="0"/>
              <a:t> — final evaluation (retrain on Train + Val)</a:t>
            </a:r>
            <a:endParaRPr lang="th-TH" sz="1600" dirty="0"/>
          </a:p>
          <a:p>
            <a:pPr marL="685800" lvl="1" indent="-228600">
              <a:buFont typeface="Arial"/>
              <a:buChar char="•"/>
            </a:pPr>
            <a:endParaRPr lang="en-US" sz="1600" dirty="0"/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Simulates real deployment: model </a:t>
            </a:r>
            <a:r>
              <a:rPr lang="en-US" sz="1400" b="1" dirty="0"/>
              <a:t>learns from the past</a:t>
            </a:r>
            <a:r>
              <a:rPr lang="en-US" sz="1400" dirty="0"/>
              <a:t>, predicts </a:t>
            </a:r>
            <a:r>
              <a:rPr lang="en-US" sz="1400" b="1" dirty="0"/>
              <a:t>future</a:t>
            </a:r>
            <a:r>
              <a:rPr lang="en-US" sz="1400" dirty="0"/>
              <a:t> interactions — preventing data leakage</a:t>
            </a:r>
          </a:p>
          <a:p>
            <a:pPr marL="228600" indent="-228600">
              <a:buFont typeface="Arial"/>
              <a:buChar char="•"/>
            </a:pPr>
            <a:endParaRPr lang="en-US" sz="1600" dirty="0"/>
          </a:p>
          <a:p>
            <a:pPr marL="228600" indent="-228600">
              <a:buFont typeface="Arial"/>
              <a:buChar char="•"/>
            </a:pPr>
            <a:r>
              <a:rPr lang="en-US" sz="1400" b="1" dirty="0"/>
              <a:t>Fixed model universe: </a:t>
            </a:r>
            <a:r>
              <a:rPr lang="en-US" sz="1400" dirty="0"/>
              <a:t>because the split is </a:t>
            </a:r>
            <a:r>
              <a:rPr lang="en-US" sz="1400" b="1" dirty="0"/>
              <a:t>global (not per-user)</a:t>
            </a:r>
            <a:r>
              <a:rPr lang="en-US" sz="1400" dirty="0"/>
              <a:t>, some users/items appear </a:t>
            </a:r>
            <a:r>
              <a:rPr lang="en-US" sz="1400" b="1" dirty="0"/>
              <a:t>only in Val/Test, never padded into the fit matrix</a:t>
            </a:r>
          </a:p>
          <a:p>
            <a:pPr marL="685800" lvl="1" indent="-228600">
              <a:buFont typeface="Arial"/>
              <a:buChar char="•"/>
            </a:pPr>
            <a:r>
              <a:rPr lang="en-US" sz="1400" dirty="0"/>
              <a:t>evaluation events on </a:t>
            </a:r>
            <a:r>
              <a:rPr lang="en-US" sz="1400" b="1" dirty="0"/>
              <a:t>unknown users/items are dropped, not scored</a:t>
            </a:r>
            <a:r>
              <a:rPr lang="en-US" sz="1400" dirty="0"/>
              <a:t> — stricter, leakage-free</a:t>
            </a:r>
          </a:p>
        </p:txBody>
      </p:sp>
      <p:sp>
        <p:nvSpPr>
          <p:cNvPr id="2025" name="Rectangle 2024">
            <a:extLst>
              <a:ext uri="{FF2B5EF4-FFF2-40B4-BE49-F238E27FC236}">
                <a16:creationId xmlns:a16="http://schemas.microsoft.com/office/drawing/2014/main" id="{85737A02-26EE-99A4-7DF2-03B3164AD7C2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26" name="Rectangle 2025">
            <a:extLst>
              <a:ext uri="{FF2B5EF4-FFF2-40B4-BE49-F238E27FC236}">
                <a16:creationId xmlns:a16="http://schemas.microsoft.com/office/drawing/2014/main" id="{CDB7B3C8-C04F-9034-8390-5C4067000884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027" name="TextBox 2026">
            <a:extLst>
              <a:ext uri="{FF2B5EF4-FFF2-40B4-BE49-F238E27FC236}">
                <a16:creationId xmlns:a16="http://schemas.microsoft.com/office/drawing/2014/main" id="{442C19CC-13FA-01F9-9A6F-22971F71E631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2028" name="Rectangle 2027">
            <a:extLst>
              <a:ext uri="{FF2B5EF4-FFF2-40B4-BE49-F238E27FC236}">
                <a16:creationId xmlns:a16="http://schemas.microsoft.com/office/drawing/2014/main" id="{0931C512-4142-2CCE-8D97-F520498B2F98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029" name="TextBox 2028">
            <a:extLst>
              <a:ext uri="{FF2B5EF4-FFF2-40B4-BE49-F238E27FC236}">
                <a16:creationId xmlns:a16="http://schemas.microsoft.com/office/drawing/2014/main" id="{7C43EF2F-3219-ABB3-9929-89D7E984695C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2030" name="Rectangle 2029">
            <a:extLst>
              <a:ext uri="{FF2B5EF4-FFF2-40B4-BE49-F238E27FC236}">
                <a16:creationId xmlns:a16="http://schemas.microsoft.com/office/drawing/2014/main" id="{5925AF44-E6C6-64BD-43BC-2A00CB21A0D8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031" name="TextBox 2030">
            <a:extLst>
              <a:ext uri="{FF2B5EF4-FFF2-40B4-BE49-F238E27FC236}">
                <a16:creationId xmlns:a16="http://schemas.microsoft.com/office/drawing/2014/main" id="{9BA226A9-E18E-4FB4-DEF7-C870A5EF9E86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2032" name="Rectangle 2031">
            <a:extLst>
              <a:ext uri="{FF2B5EF4-FFF2-40B4-BE49-F238E27FC236}">
                <a16:creationId xmlns:a16="http://schemas.microsoft.com/office/drawing/2014/main" id="{B5FA79B6-A9EF-D94C-F19D-DA54AD283C47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033" name="TextBox 2032">
            <a:extLst>
              <a:ext uri="{FF2B5EF4-FFF2-40B4-BE49-F238E27FC236}">
                <a16:creationId xmlns:a16="http://schemas.microsoft.com/office/drawing/2014/main" id="{5B3D99EB-1DEB-6D2E-6297-D46F5272E6D8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2034" name="Rectangle 2033">
            <a:extLst>
              <a:ext uri="{FF2B5EF4-FFF2-40B4-BE49-F238E27FC236}">
                <a16:creationId xmlns:a16="http://schemas.microsoft.com/office/drawing/2014/main" id="{5D35F052-57EE-7529-20DC-64FB7089D12A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035" name="TextBox 2034">
            <a:extLst>
              <a:ext uri="{FF2B5EF4-FFF2-40B4-BE49-F238E27FC236}">
                <a16:creationId xmlns:a16="http://schemas.microsoft.com/office/drawing/2014/main" id="{938D9565-A21D-48D9-65C2-4EC4259C3A50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2036" name="Rectangle 2035">
            <a:extLst>
              <a:ext uri="{FF2B5EF4-FFF2-40B4-BE49-F238E27FC236}">
                <a16:creationId xmlns:a16="http://schemas.microsoft.com/office/drawing/2014/main" id="{4F8DB12B-1808-8B2F-E02A-09F3057A87D9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037" name="TextBox 2036">
            <a:extLst>
              <a:ext uri="{FF2B5EF4-FFF2-40B4-BE49-F238E27FC236}">
                <a16:creationId xmlns:a16="http://schemas.microsoft.com/office/drawing/2014/main" id="{0B511815-0476-1F44-9555-4EC6554C08D4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2038" name="Rectangle 2037">
            <a:extLst>
              <a:ext uri="{FF2B5EF4-FFF2-40B4-BE49-F238E27FC236}">
                <a16:creationId xmlns:a16="http://schemas.microsoft.com/office/drawing/2014/main" id="{EF5346C0-9AF1-F993-49A1-A4C03E75594B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039" name="TextBox 2038">
            <a:extLst>
              <a:ext uri="{FF2B5EF4-FFF2-40B4-BE49-F238E27FC236}">
                <a16:creationId xmlns:a16="http://schemas.microsoft.com/office/drawing/2014/main" id="{2122DE63-3FD4-AF8D-9D7A-38AE32E5D078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11" name="DiagramBg">
            <a:extLst>
              <a:ext uri="{FF2B5EF4-FFF2-40B4-BE49-F238E27FC236}">
                <a16:creationId xmlns:a16="http://schemas.microsoft.com/office/drawing/2014/main" id="{4204C189-E43C-9BED-1940-9FA78C245C13}"/>
              </a:ext>
            </a:extLst>
          </p:cNvPr>
          <p:cNvSpPr>
            <a:spLocks noGrp="1"/>
          </p:cNvSpPr>
          <p:nvPr/>
        </p:nvSpPr>
        <p:spPr>
          <a:xfrm>
            <a:off x="5933872" y="1617144"/>
            <a:ext cx="5953328" cy="2755900"/>
          </a:xfrm>
          <a:prstGeom prst="roundRect">
            <a:avLst>
              <a:gd name="adj" fmla="val 8248"/>
            </a:avLst>
          </a:prstGeom>
          <a:solidFill>
            <a:srgbClr val="F5F8FF"/>
          </a:solidFill>
          <a:ln w="19050">
            <a:solidFill>
              <a:srgbClr val="B0C4DE"/>
            </a:solidFill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301" name="Band_301"/>
          <p:cNvSpPr>
            <a:spLocks noChangeArrowheads="1"/>
          </p:cNvSpPr>
          <p:nvPr/>
        </p:nvSpPr>
        <p:spPr>
          <a:xfrm>
            <a:off x="6731000" y="1966501"/>
            <a:ext cx="25400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 (70%)</a:t>
            </a:r>
          </a:p>
        </p:txBody>
      </p:sp>
      <p:sp>
        <p:nvSpPr>
          <p:cNvPr id="302" name="Band_302"/>
          <p:cNvSpPr>
            <a:spLocks noChangeArrowheads="1"/>
          </p:cNvSpPr>
          <p:nvPr/>
        </p:nvSpPr>
        <p:spPr>
          <a:xfrm>
            <a:off x="9271000" y="1966501"/>
            <a:ext cx="762000" cy="381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 (10%)</a:t>
            </a:r>
          </a:p>
        </p:txBody>
      </p:sp>
      <p:sp>
        <p:nvSpPr>
          <p:cNvPr id="303" name="Band_303"/>
          <p:cNvSpPr>
            <a:spLocks noChangeArrowheads="1"/>
          </p:cNvSpPr>
          <p:nvPr/>
        </p:nvSpPr>
        <p:spPr>
          <a:xfrm>
            <a:off x="10033000" y="1966501"/>
            <a:ext cx="1651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(20%)</a:t>
            </a:r>
          </a:p>
        </p:txBody>
      </p:sp>
      <p:sp>
        <p:nvSpPr>
          <p:cNvPr id="420" name="ULabel_20"/>
          <p:cNvSpPr txBox="1">
            <a:spLocks noChangeArrowheads="1"/>
          </p:cNvSpPr>
          <p:nvPr/>
        </p:nvSpPr>
        <p:spPr>
          <a:xfrm>
            <a:off x="6057900" y="2476394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User B</a:t>
            </a:r>
          </a:p>
        </p:txBody>
      </p:sp>
      <p:sp>
        <p:nvSpPr>
          <p:cNvPr id="520" name="RowLine_20"/>
          <p:cNvSpPr>
            <a:spLocks noChangeArrowheads="1"/>
          </p:cNvSpPr>
          <p:nvPr/>
        </p:nvSpPr>
        <p:spPr>
          <a:xfrm>
            <a:off x="6692900" y="2565294"/>
            <a:ext cx="5080000" cy="254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0" name="Dot_20_0"/>
          <p:cNvSpPr>
            <a:spLocks noChangeArrowheads="1"/>
          </p:cNvSpPr>
          <p:nvPr/>
        </p:nvSpPr>
        <p:spPr>
          <a:xfrm>
            <a:off x="6870700" y="2514494"/>
            <a:ext cx="114300" cy="1143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Dot_20_1"/>
          <p:cNvSpPr>
            <a:spLocks noChangeArrowheads="1"/>
          </p:cNvSpPr>
          <p:nvPr/>
        </p:nvSpPr>
        <p:spPr>
          <a:xfrm>
            <a:off x="7124700" y="2514494"/>
            <a:ext cx="114300" cy="1143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2" name="Dot_20_2"/>
          <p:cNvSpPr>
            <a:spLocks noChangeArrowheads="1"/>
          </p:cNvSpPr>
          <p:nvPr/>
        </p:nvSpPr>
        <p:spPr>
          <a:xfrm>
            <a:off x="7442200" y="2514494"/>
            <a:ext cx="114300" cy="1143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3" name="Dot_20_3"/>
          <p:cNvSpPr>
            <a:spLocks noChangeArrowheads="1"/>
          </p:cNvSpPr>
          <p:nvPr/>
        </p:nvSpPr>
        <p:spPr>
          <a:xfrm>
            <a:off x="7759700" y="2514494"/>
            <a:ext cx="114300" cy="1143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4" name="Dot_20_4"/>
          <p:cNvSpPr>
            <a:spLocks noChangeArrowheads="1"/>
          </p:cNvSpPr>
          <p:nvPr/>
        </p:nvSpPr>
        <p:spPr>
          <a:xfrm>
            <a:off x="8077200" y="2514494"/>
            <a:ext cx="114300" cy="1143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5" name="Dot_20_5"/>
          <p:cNvSpPr>
            <a:spLocks noChangeArrowheads="1"/>
          </p:cNvSpPr>
          <p:nvPr/>
        </p:nvSpPr>
        <p:spPr>
          <a:xfrm>
            <a:off x="8394700" y="2514494"/>
            <a:ext cx="114300" cy="1143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6" name="Dot_20_6"/>
          <p:cNvSpPr>
            <a:spLocks noChangeArrowheads="1"/>
          </p:cNvSpPr>
          <p:nvPr/>
        </p:nvSpPr>
        <p:spPr>
          <a:xfrm>
            <a:off x="8775700" y="2514494"/>
            <a:ext cx="114300" cy="1143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7" name="Dot_20_7"/>
          <p:cNvSpPr>
            <a:spLocks noChangeArrowheads="1"/>
          </p:cNvSpPr>
          <p:nvPr/>
        </p:nvSpPr>
        <p:spPr>
          <a:xfrm>
            <a:off x="9067800" y="2514494"/>
            <a:ext cx="114300" cy="1143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8" name="Dot_20_8"/>
          <p:cNvSpPr>
            <a:spLocks noChangeArrowheads="1"/>
          </p:cNvSpPr>
          <p:nvPr/>
        </p:nvSpPr>
        <p:spPr>
          <a:xfrm>
            <a:off x="9347200" y="2514494"/>
            <a:ext cx="114300" cy="114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9" name="Dot_20_9"/>
          <p:cNvSpPr>
            <a:spLocks noChangeArrowheads="1"/>
          </p:cNvSpPr>
          <p:nvPr/>
        </p:nvSpPr>
        <p:spPr>
          <a:xfrm>
            <a:off x="10109200" y="2514494"/>
            <a:ext cx="114300" cy="1143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0" name="Annot_20"/>
          <p:cNvSpPr txBox="1">
            <a:spLocks noChangeArrowheads="1"/>
          </p:cNvSpPr>
          <p:nvPr/>
        </p:nvSpPr>
        <p:spPr>
          <a:xfrm>
            <a:off x="6057900" y="2628794"/>
            <a:ext cx="57785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900" i="1" dirty="0">
                <a:solidFill>
                  <a:srgbClr val="888888"/>
                </a:solidFill>
              </a:rPr>
              <a:t>Many interactions in Train</a:t>
            </a:r>
          </a:p>
        </p:txBody>
      </p:sp>
      <p:sp>
        <p:nvSpPr>
          <p:cNvPr id="440" name="ULabel_40"/>
          <p:cNvSpPr txBox="1">
            <a:spLocks noChangeArrowheads="1"/>
          </p:cNvSpPr>
          <p:nvPr/>
        </p:nvSpPr>
        <p:spPr>
          <a:xfrm>
            <a:off x="6057900" y="2987221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User D</a:t>
            </a:r>
          </a:p>
        </p:txBody>
      </p:sp>
      <p:sp>
        <p:nvSpPr>
          <p:cNvPr id="540" name="RowLine_40"/>
          <p:cNvSpPr>
            <a:spLocks noChangeArrowheads="1"/>
          </p:cNvSpPr>
          <p:nvPr/>
        </p:nvSpPr>
        <p:spPr>
          <a:xfrm>
            <a:off x="6692900" y="3076121"/>
            <a:ext cx="5080000" cy="254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" name="Dot_40_0"/>
          <p:cNvSpPr>
            <a:spLocks noChangeArrowheads="1"/>
          </p:cNvSpPr>
          <p:nvPr/>
        </p:nvSpPr>
        <p:spPr>
          <a:xfrm>
            <a:off x="9347200" y="3025321"/>
            <a:ext cx="114300" cy="114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" name="Dot_40_1"/>
          <p:cNvSpPr>
            <a:spLocks noChangeArrowheads="1"/>
          </p:cNvSpPr>
          <p:nvPr/>
        </p:nvSpPr>
        <p:spPr>
          <a:xfrm>
            <a:off x="9601200" y="3025321"/>
            <a:ext cx="114300" cy="114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2" name="Dot_40_2"/>
          <p:cNvSpPr>
            <a:spLocks noChangeArrowheads="1"/>
          </p:cNvSpPr>
          <p:nvPr/>
        </p:nvSpPr>
        <p:spPr>
          <a:xfrm>
            <a:off x="10236200" y="3025321"/>
            <a:ext cx="114300" cy="1143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3" name="Dot_40_3"/>
          <p:cNvSpPr>
            <a:spLocks noChangeArrowheads="1"/>
          </p:cNvSpPr>
          <p:nvPr/>
        </p:nvSpPr>
        <p:spPr>
          <a:xfrm>
            <a:off x="10998200" y="3025321"/>
            <a:ext cx="114300" cy="1143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0" name="Annot_40"/>
          <p:cNvSpPr txBox="1">
            <a:spLocks noChangeArrowheads="1"/>
          </p:cNvSpPr>
          <p:nvPr/>
        </p:nvSpPr>
        <p:spPr>
          <a:xfrm>
            <a:off x="6057900" y="3139621"/>
            <a:ext cx="57785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900" i="1" dirty="0">
                <a:solidFill>
                  <a:srgbClr val="888888"/>
                </a:solidFill>
              </a:rPr>
              <a:t>Only in Val — warm at test</a:t>
            </a:r>
          </a:p>
        </p:txBody>
      </p:sp>
      <p:sp>
        <p:nvSpPr>
          <p:cNvPr id="450" name="ULabel_50"/>
          <p:cNvSpPr txBox="1">
            <a:spLocks noChangeArrowheads="1"/>
          </p:cNvSpPr>
          <p:nvPr/>
        </p:nvSpPr>
        <p:spPr>
          <a:xfrm>
            <a:off x="6057900" y="3495221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User E</a:t>
            </a:r>
          </a:p>
        </p:txBody>
      </p:sp>
      <p:sp>
        <p:nvSpPr>
          <p:cNvPr id="550" name="RowLine_50"/>
          <p:cNvSpPr>
            <a:spLocks noChangeArrowheads="1"/>
          </p:cNvSpPr>
          <p:nvPr/>
        </p:nvSpPr>
        <p:spPr>
          <a:xfrm>
            <a:off x="6692900" y="3584121"/>
            <a:ext cx="5080000" cy="254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0" name="Dot_50_0"/>
          <p:cNvSpPr>
            <a:spLocks noChangeArrowheads="1"/>
          </p:cNvSpPr>
          <p:nvPr/>
        </p:nvSpPr>
        <p:spPr>
          <a:xfrm>
            <a:off x="10109200" y="3533321"/>
            <a:ext cx="114300" cy="1143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1" name="Dot_50_1"/>
          <p:cNvSpPr>
            <a:spLocks noChangeArrowheads="1"/>
          </p:cNvSpPr>
          <p:nvPr/>
        </p:nvSpPr>
        <p:spPr>
          <a:xfrm>
            <a:off x="10617200" y="3533321"/>
            <a:ext cx="114300" cy="1143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2" name="Dot_50_2"/>
          <p:cNvSpPr>
            <a:spLocks noChangeArrowheads="1"/>
          </p:cNvSpPr>
          <p:nvPr/>
        </p:nvSpPr>
        <p:spPr>
          <a:xfrm>
            <a:off x="11125200" y="3533321"/>
            <a:ext cx="114300" cy="1143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0" name="Annot_50"/>
          <p:cNvSpPr txBox="1">
            <a:spLocks noChangeArrowheads="1"/>
          </p:cNvSpPr>
          <p:nvPr/>
        </p:nvSpPr>
        <p:spPr>
          <a:xfrm>
            <a:off x="6057900" y="3647621"/>
            <a:ext cx="57785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900" i="1" dirty="0">
                <a:solidFill>
                  <a:srgbClr val="C00000"/>
                </a:solidFill>
              </a:rPr>
              <a:t>Unseen by model — dropped from eval</a:t>
            </a:r>
          </a:p>
        </p:txBody>
      </p:sp>
      <p:sp>
        <p:nvSpPr>
          <p:cNvPr id="1630" name="Divider_730"/>
          <p:cNvSpPr>
            <a:spLocks noChangeArrowheads="1"/>
          </p:cNvSpPr>
          <p:nvPr/>
        </p:nvSpPr>
        <p:spPr>
          <a:xfrm>
            <a:off x="9271000" y="1966501"/>
            <a:ext cx="27432" cy="18288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90" name="Divider_790"/>
          <p:cNvSpPr>
            <a:spLocks noChangeArrowheads="1"/>
          </p:cNvSpPr>
          <p:nvPr/>
        </p:nvSpPr>
        <p:spPr>
          <a:xfrm>
            <a:off x="10033000" y="1966501"/>
            <a:ext cx="27432" cy="18288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" name="Legend"/>
          <p:cNvSpPr txBox="1">
            <a:spLocks noChangeArrowheads="1"/>
          </p:cNvSpPr>
          <p:nvPr/>
        </p:nvSpPr>
        <p:spPr>
          <a:xfrm>
            <a:off x="6096000" y="3935001"/>
            <a:ext cx="5715000" cy="25053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000" b="1" dirty="0">
                <a:solidFill>
                  <a:srgbClr val="2E75B6"/>
                </a:solidFill>
              </a:rPr>
              <a:t>● Train </a:t>
            </a:r>
            <a:r>
              <a:rPr lang="en-US" sz="1000" b="1" dirty="0">
                <a:solidFill>
                  <a:srgbClr val="ED7D31"/>
                </a:solidFill>
              </a:rPr>
              <a:t>● Val </a:t>
            </a:r>
            <a:r>
              <a:rPr lang="en-US" sz="1000" b="1" dirty="0">
                <a:solidFill>
                  <a:srgbClr val="C00000"/>
                </a:solidFill>
              </a:rPr>
              <a:t>● Test </a:t>
            </a:r>
            <a:r>
              <a:rPr lang="en-US" sz="1000" dirty="0">
                <a:solidFill>
                  <a:srgbClr val="666666"/>
                </a:solidFill>
              </a:rPr>
              <a:t>  (each dot = 1 interaction)</a:t>
            </a:r>
          </a:p>
        </p:txBody>
      </p:sp>
      <p:sp>
        <p:nvSpPr>
          <p:cNvPr id="2000" name="InsightCard"/>
          <p:cNvSpPr/>
          <p:nvPr/>
        </p:nvSpPr>
        <p:spPr>
          <a:xfrm>
            <a:off x="5930900" y="4551250"/>
            <a:ext cx="5956300" cy="1697150"/>
          </a:xfrm>
          <a:prstGeom prst="roundRect">
            <a:avLst>
              <a:gd name="adj" fmla="val 6000"/>
            </a:avLst>
          </a:prstGeom>
          <a:solidFill>
            <a:srgbClr val="F5F8FF"/>
          </a:solidFill>
          <a:ln w="12700">
            <a:solidFill>
              <a:srgbClr val="2E75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1" name="InsightHead"/>
          <p:cNvSpPr txBox="1"/>
          <p:nvPr/>
        </p:nvSpPr>
        <p:spPr>
          <a:xfrm>
            <a:off x="6159500" y="4750918"/>
            <a:ext cx="54991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864"/>
                </a:solidFill>
              </a:rPr>
              <a:t>How the fixed fit-window universe appears in the split</a:t>
            </a:r>
          </a:p>
        </p:txBody>
      </p:sp>
      <p:sp>
        <p:nvSpPr>
          <p:cNvPr id="2002" name="InsightBody"/>
          <p:cNvSpPr txBox="1"/>
          <p:nvPr/>
        </p:nvSpPr>
        <p:spPr>
          <a:xfrm>
            <a:off x="6159500" y="5185672"/>
            <a:ext cx="5499100" cy="93572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171450" indent="-171450">
              <a:lnSpc>
                <a:spcPts val="19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b="1" dirty="0">
                <a:solidFill>
                  <a:srgbClr val="2E75B6"/>
                </a:solidFill>
              </a:rPr>
              <a:t>User B</a:t>
            </a:r>
            <a:r>
              <a:rPr lang="en-US" sz="1400" dirty="0"/>
              <a:t> — many Training interactions → warm user</a:t>
            </a:r>
          </a:p>
          <a:p>
            <a:pPr marL="171450" indent="-171450">
              <a:lnSpc>
                <a:spcPts val="19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b="1" dirty="0">
                <a:solidFill>
                  <a:srgbClr val="ED7D31"/>
                </a:solidFill>
              </a:rPr>
              <a:t>User D</a:t>
            </a:r>
            <a:r>
              <a:rPr lang="en-US" sz="1400" dirty="0"/>
              <a:t> — first seen in Val → no training signal; evaluated only if it has ≥1 positive Val interaction</a:t>
            </a:r>
          </a:p>
          <a:p>
            <a:pPr marL="171450" indent="-171450">
              <a:lnSpc>
                <a:spcPts val="1900"/>
              </a:lnSpc>
              <a:spcAft>
                <a:spcPts val="500"/>
              </a:spcAft>
              <a:buFont typeface="Arial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User E</a:t>
            </a:r>
            <a:r>
              <a:rPr lang="en-US" sz="1400" dirty="0"/>
              <a:t> — only in Test → </a:t>
            </a:r>
            <a:r>
              <a:rPr lang="en-US" sz="1400" b="1" dirty="0"/>
              <a:t>unknown to any fit window, dropped from evaluation</a:t>
            </a:r>
          </a:p>
        </p:txBody>
      </p:sp>
      <p:sp>
        <p:nvSpPr>
          <p:cNvPr id="2" name="Footer Placeholder 19">
            <a:extLst>
              <a:ext uri="{FF2B5EF4-FFF2-40B4-BE49-F238E27FC236}">
                <a16:creationId xmlns:a16="http://schemas.microsoft.com/office/drawing/2014/main" id="{E87ABCF5-17B1-EDC8-D0E9-95EED85F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3" name="Slide Number Placeholder 20">
            <a:extLst>
              <a:ext uri="{FF2B5EF4-FFF2-40B4-BE49-F238E27FC236}">
                <a16:creationId xmlns:a16="http://schemas.microsoft.com/office/drawing/2014/main" id="{37079093-1756-2368-E08C-78646B36E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17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18">
            <a:extLst>
              <a:ext uri="{FF2B5EF4-FFF2-40B4-BE49-F238E27FC236}">
                <a16:creationId xmlns:a16="http://schemas.microsoft.com/office/drawing/2014/main" id="{A8E48971-15F2-9ECC-ED5F-DA10E9367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3110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930B7-8B6D-48A7-86A8-AA41C3241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ED632F9-899F-613A-9D1C-153C43BC64C2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4.1 NDCG Results (mean ± SD, 5 seeds)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7FA7FB-2A5B-451D-848C-2942271BAB2A}"/>
              </a:ext>
            </a:extLst>
          </p:cNvPr>
          <p:cNvSpPr txBox="1"/>
          <p:nvPr/>
        </p:nvSpPr>
        <p:spPr>
          <a:xfrm>
            <a:off x="5549472" y="1578890"/>
            <a:ext cx="6000000" cy="33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/>
            <a:r>
              <a:rPr lang="en-US" sz="1020" i="1" dirty="0"/>
              <a:t>* mean±SD, 5 seeds (42-46), % NDCG; bold=best, underline=2nd-best (25 dataset-seed runs/model).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F8765B4-6E03-ADC6-086D-3A817BE1D5F6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CE21D50-9A08-0BA9-7BB5-14755552D4C3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E7E3DA4-EDB0-2AA2-DEEB-8178D8967D93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AF17218-6B2D-C0CC-8F58-5219BCB1C34F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2AE4B93-AFB8-FF84-E75C-626B7BC9DDF9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59D17B5-591A-6CCE-C8E0-F67DB837D41B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1E5A7A9-EED1-750D-49A4-90E8D86B9C2D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14F57E0-86B4-A75A-7C36-724CC437293C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548B57B-C67A-644D-B801-B38463848129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8C91279-8EB8-7368-E9A1-B82B55FB50C3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9BDDC62-D09E-21CD-E8CB-F7247132676F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F541E85-9976-EE1B-9B88-94E88ADD710A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E6B5126-7B63-67B6-A5B2-E8763F1C9D66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F6CAC09-CFBD-31F7-95A3-FCD9C496AE0F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1920D80-46BA-9C96-7D34-7EF4D402282F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A1FBB9E-3CE1-B39D-8A6D-CA06D05F2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021170"/>
              </p:ext>
            </p:extLst>
          </p:nvPr>
        </p:nvGraphicFramePr>
        <p:xfrm>
          <a:off x="642525" y="1850000"/>
          <a:ext cx="9910929" cy="16491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4276400700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1574887714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67029"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18000" marR="18000" marT="9000" marB="900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18000" marR="18000" marT="9000" marB="900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5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NDCG@10  —  overall (All) and by # historical interactions</a:t>
                      </a:r>
                    </a:p>
                  </a:txBody>
                  <a:tcPr marL="18000" marR="18000" marT="9000" marB="9000" anchor="ctr">
                    <a:solidFill>
                      <a:srgbClr val="1F3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Overall NDCG</a:t>
                      </a:r>
                    </a:p>
                  </a:txBody>
                  <a:tcPr marL="18000" marR="18000" marT="9000" marB="9000" anchor="ctr">
                    <a:solidFill>
                      <a:srgbClr val="1F3D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8000" marR="18000" marT="9000" marB="9000" anchor="ctr">
                    <a:solidFill>
                      <a:srgbClr val="1F3D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8000" marR="18000" marT="9000" marB="9000" anchor="ctr">
                    <a:solidFill>
                      <a:srgbClr val="1F3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867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18000" marR="18000" marT="9000" marB="900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5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000" marR="18000" marT="9000" marB="900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5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8000" marR="18000" marT="9000" marB="900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5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3+</a:t>
                      </a:r>
                    </a:p>
                  </a:txBody>
                  <a:tcPr marL="18000" marR="18000" marT="9000" marB="900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5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@20</a:t>
                      </a:r>
                    </a:p>
                  </a:txBody>
                  <a:tcPr marL="18000" marR="18000" marT="9000" marB="900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5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@50</a:t>
                      </a:r>
                    </a:p>
                  </a:txBody>
                  <a:tcPr marL="18000" marR="18000" marT="9000" marB="900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5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@100</a:t>
                      </a:r>
                    </a:p>
                  </a:txBody>
                  <a:tcPr marL="18000" marR="18000" marT="9000" marB="900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5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@200</a:t>
                      </a:r>
                    </a:p>
                  </a:txBody>
                  <a:tcPr marL="18000" marR="18000" marT="9000" marB="900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325">
                <a:tc rowSpan="4"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000000"/>
                          </a:solidFill>
                          <a:latin typeface="Aptos"/>
                        </a:rPr>
                        <a:t>Luxury Beauty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Aptos"/>
                        </a:rPr>
                        <a:t>MostPop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0.25±0.00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1.09±0.00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0.00±0.00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0.18±0.00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1.43±0.00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2.94±0.00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3.49±0.00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4.42±0.00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325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Aptos"/>
                        </a:rPr>
                        <a:t>Standard-WMF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4.27±0.26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9.53±0.41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5.35±0.71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3.32±0.23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4.96±0.22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6.08±0.21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6.88±0.21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7.87±0.19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666760"/>
                  </a:ext>
                </a:extLst>
              </a:tr>
              <a:tr h="204325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3000" marB="300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Aptos"/>
                        </a:rPr>
                        <a:t>CoFactor-WMF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 dirty="0">
                          <a:solidFill>
                            <a:srgbClr val="000000"/>
                          </a:solidFill>
                          <a:latin typeface="Aptos"/>
                        </a:rPr>
                        <a:t>4.33±0.26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9.79±0.41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5.31±0.72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3.37±0.25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4.97±0.26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 dirty="0">
                          <a:solidFill>
                            <a:srgbClr val="000000"/>
                          </a:solidFill>
                          <a:latin typeface="Aptos"/>
                        </a:rPr>
                        <a:t>6.09±0.19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 dirty="0">
                          <a:solidFill>
                            <a:srgbClr val="000000"/>
                          </a:solidFill>
                          <a:latin typeface="Aptos"/>
                        </a:rPr>
                        <a:t>6.90±0.15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 dirty="0">
                          <a:solidFill>
                            <a:srgbClr val="000000"/>
                          </a:solidFill>
                          <a:latin typeface="Aptos"/>
                        </a:rPr>
                        <a:t>7.97±0.15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325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3000" marB="300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  <a:latin typeface="Aptos"/>
                        </a:rPr>
                        <a:t>CPARMS-WMF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>
                          <a:solidFill>
                            <a:srgbClr val="000000"/>
                          </a:solidFill>
                          <a:latin typeface="Aptos"/>
                        </a:rPr>
                        <a:t>4.65±0.18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9.24±0.79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5.76±0.71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3.79±0.18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5.43±0.17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6.58±0.19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7.46±0.25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8.53±0.20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F278A19-01FF-CB27-502A-F99EC743A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007358"/>
              </p:ext>
            </p:extLst>
          </p:nvPr>
        </p:nvGraphicFramePr>
        <p:xfrm>
          <a:off x="637138" y="3502196"/>
          <a:ext cx="9910929" cy="8173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20000">
                  <a:extLst>
                    <a:ext uri="{9D8B030D-6E8A-4147-A177-3AD203B41FA5}">
                      <a16:colId xmlns:a16="http://schemas.microsoft.com/office/drawing/2014/main" val="1559208812"/>
                    </a:ext>
                  </a:extLst>
                </a:gridCol>
                <a:gridCol w="1022785">
                  <a:extLst>
                    <a:ext uri="{9D8B030D-6E8A-4147-A177-3AD203B41FA5}">
                      <a16:colId xmlns:a16="http://schemas.microsoft.com/office/drawing/2014/main" val="2812641670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4016980911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3755437007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3698969251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1536923310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561347341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984352949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843642026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745175961"/>
                    </a:ext>
                  </a:extLst>
                </a:gridCol>
              </a:tblGrid>
              <a:tr h="204325">
                <a:tc rowSpan="4"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000000"/>
                          </a:solidFill>
                          <a:latin typeface="Aptos"/>
                        </a:rPr>
                        <a:t>Industrial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MostPop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2.58±0.00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>
                          <a:solidFill>
                            <a:srgbClr val="000000"/>
                          </a:solidFill>
                          <a:latin typeface="Aptos"/>
                        </a:rPr>
                        <a:t>6.87±0.00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>
                          <a:solidFill>
                            <a:srgbClr val="000000"/>
                          </a:solidFill>
                          <a:latin typeface="Aptos"/>
                        </a:rPr>
                        <a:t>4.83±0.00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1.33±0.00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 dirty="0">
                          <a:solidFill>
                            <a:srgbClr val="000000"/>
                          </a:solidFill>
                          <a:latin typeface="Aptos"/>
                        </a:rPr>
                        <a:t>3.01±0.00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3.81±0.00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 dirty="0">
                          <a:solidFill>
                            <a:srgbClr val="000000"/>
                          </a:solidFill>
                          <a:latin typeface="Aptos"/>
                        </a:rPr>
                        <a:t>4.54±0.00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5.40±0.00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97882"/>
                  </a:ext>
                </a:extLst>
              </a:tr>
              <a:tr h="204325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Standard-WMF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1.83±0.11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2.71±0.16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1.95±0.22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1.65±0.19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 dirty="0">
                          <a:solidFill>
                            <a:srgbClr val="000000"/>
                          </a:solidFill>
                          <a:latin typeface="Aptos"/>
                        </a:rPr>
                        <a:t>2.35±0.11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3.20±0.09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 dirty="0">
                          <a:solidFill>
                            <a:srgbClr val="000000"/>
                          </a:solidFill>
                          <a:latin typeface="Aptos"/>
                        </a:rPr>
                        <a:t>4.01±0.07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4.97±0.10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736793"/>
                  </a:ext>
                </a:extLst>
              </a:tr>
              <a:tr h="204325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3000" marB="300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Aptos"/>
                        </a:rPr>
                        <a:t>CoFactor-WMF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1.86±0.04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 dirty="0">
                          <a:solidFill>
                            <a:srgbClr val="000000"/>
                          </a:solidFill>
                          <a:latin typeface="Aptos"/>
                        </a:rPr>
                        <a:t>2.78±0.22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1.98±0.29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1.68±0.09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2.35±0.06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3.23±0.14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 dirty="0">
                          <a:solidFill>
                            <a:srgbClr val="000000"/>
                          </a:solidFill>
                          <a:latin typeface="Aptos"/>
                        </a:rPr>
                        <a:t>4.02±0.14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4.98±0.19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14949"/>
                  </a:ext>
                </a:extLst>
              </a:tr>
              <a:tr h="204325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3000" marB="300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ptos"/>
                        </a:rPr>
                        <a:t>CPARMS-WMF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2.89±0.05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6.58±0.17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 dirty="0">
                          <a:solidFill>
                            <a:srgbClr val="000000"/>
                          </a:solidFill>
                          <a:latin typeface="Aptos"/>
                        </a:rPr>
                        <a:t>4.36±0.22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>
                          <a:solidFill>
                            <a:srgbClr val="000000"/>
                          </a:solidFill>
                          <a:latin typeface="Aptos"/>
                        </a:rPr>
                        <a:t>1.93±0.06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>
                          <a:solidFill>
                            <a:srgbClr val="000000"/>
                          </a:solidFill>
                          <a:latin typeface="Aptos"/>
                        </a:rPr>
                        <a:t>3.47±0.10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4.40±0.22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>
                          <a:solidFill>
                            <a:srgbClr val="000000"/>
                          </a:solidFill>
                          <a:latin typeface="Aptos"/>
                        </a:rPr>
                        <a:t>5.20±0.29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6.17±0.37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69217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3743701-1EAF-89E5-2C74-9A1E89306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144381"/>
              </p:ext>
            </p:extLst>
          </p:nvPr>
        </p:nvGraphicFramePr>
        <p:xfrm>
          <a:off x="637138" y="4322496"/>
          <a:ext cx="9910929" cy="8173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20000">
                  <a:extLst>
                    <a:ext uri="{9D8B030D-6E8A-4147-A177-3AD203B41FA5}">
                      <a16:colId xmlns:a16="http://schemas.microsoft.com/office/drawing/2014/main" val="1559208812"/>
                    </a:ext>
                  </a:extLst>
                </a:gridCol>
                <a:gridCol w="1022785">
                  <a:extLst>
                    <a:ext uri="{9D8B030D-6E8A-4147-A177-3AD203B41FA5}">
                      <a16:colId xmlns:a16="http://schemas.microsoft.com/office/drawing/2014/main" val="2812641670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4016980911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3755437007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3698969251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1536923310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561347341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984352949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843642026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745175961"/>
                    </a:ext>
                  </a:extLst>
                </a:gridCol>
              </a:tblGrid>
              <a:tr h="204325">
                <a:tc rowSpan="4"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000000"/>
                          </a:solidFill>
                          <a:latin typeface="Aptos"/>
                        </a:rPr>
                        <a:t>Pantry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MostPop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1.44±0.00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2.11±0.00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1.72±0.00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1.27±0.00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2.07±0.00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3.20±0.00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4.47±0.00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5.90±0.00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97882"/>
                  </a:ext>
                </a:extLst>
              </a:tr>
              <a:tr h="204325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Standard-WMF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1.84±0.07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1.75±0.28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1.68±0.09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1.88±0.05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2.37±0.07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3.46±0.08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4.48±0.14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5.79±0.19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133114"/>
                  </a:ext>
                </a:extLst>
              </a:tr>
              <a:tr h="204325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3000" marB="300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Aptos"/>
                        </a:rPr>
                        <a:t>CoFactor-WMF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1.78±0.17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1.54±0.10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>
                          <a:solidFill>
                            <a:srgbClr val="000000"/>
                          </a:solidFill>
                          <a:latin typeface="Aptos"/>
                        </a:rPr>
                        <a:t>1.81±0.33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1.82±0.17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2.35±0.14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3.39±0.11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4.44±0.14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 dirty="0">
                          <a:solidFill>
                            <a:srgbClr val="000000"/>
                          </a:solidFill>
                          <a:latin typeface="Aptos"/>
                        </a:rPr>
                        <a:t>5.71±0.13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14949"/>
                  </a:ext>
                </a:extLst>
              </a:tr>
              <a:tr h="204325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3000" marB="300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000000"/>
                          </a:solidFill>
                          <a:latin typeface="Aptos"/>
                        </a:rPr>
                        <a:t>CPARMS-WMF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1.97±0.11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2.23±0.16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1.75±0.19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1.97±0.13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2.56±0.09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3.76±0.12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5.00±0.21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6.42±0.36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69217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37FD897-6EE1-7897-CDE6-2B15A5C0D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493849"/>
              </p:ext>
            </p:extLst>
          </p:nvPr>
        </p:nvGraphicFramePr>
        <p:xfrm>
          <a:off x="637138" y="5142796"/>
          <a:ext cx="9910929" cy="8173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20000">
                  <a:extLst>
                    <a:ext uri="{9D8B030D-6E8A-4147-A177-3AD203B41FA5}">
                      <a16:colId xmlns:a16="http://schemas.microsoft.com/office/drawing/2014/main" val="1559208812"/>
                    </a:ext>
                  </a:extLst>
                </a:gridCol>
                <a:gridCol w="1022785">
                  <a:extLst>
                    <a:ext uri="{9D8B030D-6E8A-4147-A177-3AD203B41FA5}">
                      <a16:colId xmlns:a16="http://schemas.microsoft.com/office/drawing/2014/main" val="2812641670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4016980911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3755437007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3698969251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1536923310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561347341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984352949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843642026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745175961"/>
                    </a:ext>
                  </a:extLst>
                </a:gridCol>
              </a:tblGrid>
              <a:tr h="204325">
                <a:tc rowSpan="4"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000000"/>
                          </a:solidFill>
                          <a:latin typeface="Aptos"/>
                        </a:rPr>
                        <a:t>Music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MostPop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0.44±0.00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0.59±0.00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0.43±0.00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0.41±0.00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0.64±0.00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0.98±0.00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1.51±0.00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2.00±0.00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97882"/>
                  </a:ext>
                </a:extLst>
              </a:tr>
              <a:tr h="204325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Standard-WMF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1.72±0.05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1.74±0.12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2.73±0.24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1.53±0.05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2.19±0.07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3.06±0.07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3.98±0.09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5.09±0.10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495282"/>
                  </a:ext>
                </a:extLst>
              </a:tr>
              <a:tr h="204325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3000" marB="300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000000"/>
                          </a:solidFill>
                          <a:latin typeface="Aptos"/>
                        </a:rPr>
                        <a:t>CoFactor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Aptos"/>
                        </a:rPr>
                        <a:t>-WMF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1.74±0.05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>
                          <a:solidFill>
                            <a:srgbClr val="000000"/>
                          </a:solidFill>
                          <a:latin typeface="Aptos"/>
                        </a:rPr>
                        <a:t>1.87±0.21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2.73±0.12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1.53±0.05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2.22±0.09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3.06±0.07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3.97±0.09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5.06±0.10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14949"/>
                  </a:ext>
                </a:extLst>
              </a:tr>
              <a:tr h="204325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3000" marB="300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ptos"/>
                        </a:rPr>
                        <a:t>CPARMS-WMF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1.83±0.04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1.76±0.14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2.96±0.13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1.63±0.05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>
                          <a:solidFill>
                            <a:srgbClr val="000000"/>
                          </a:solidFill>
                          <a:latin typeface="Aptos"/>
                        </a:rPr>
                        <a:t>2.31±0.04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3.20±0.07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>
                          <a:solidFill>
                            <a:srgbClr val="000000"/>
                          </a:solidFill>
                          <a:latin typeface="Aptos"/>
                        </a:rPr>
                        <a:t>4.19±0.06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5.32±0.03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69217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C684435-07B1-D849-FEAC-952F2C648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099065"/>
              </p:ext>
            </p:extLst>
          </p:nvPr>
        </p:nvGraphicFramePr>
        <p:xfrm>
          <a:off x="637138" y="5963096"/>
          <a:ext cx="9910929" cy="8173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20000">
                  <a:extLst>
                    <a:ext uri="{9D8B030D-6E8A-4147-A177-3AD203B41FA5}">
                      <a16:colId xmlns:a16="http://schemas.microsoft.com/office/drawing/2014/main" val="1559208812"/>
                    </a:ext>
                  </a:extLst>
                </a:gridCol>
                <a:gridCol w="1022785">
                  <a:extLst>
                    <a:ext uri="{9D8B030D-6E8A-4147-A177-3AD203B41FA5}">
                      <a16:colId xmlns:a16="http://schemas.microsoft.com/office/drawing/2014/main" val="2812641670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4016980911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3755437007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3698969251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1536923310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561347341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984352949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843642026"/>
                    </a:ext>
                  </a:extLst>
                </a:gridCol>
                <a:gridCol w="996018">
                  <a:extLst>
                    <a:ext uri="{9D8B030D-6E8A-4147-A177-3AD203B41FA5}">
                      <a16:colId xmlns:a16="http://schemas.microsoft.com/office/drawing/2014/main" val="2745175961"/>
                    </a:ext>
                  </a:extLst>
                </a:gridCol>
              </a:tblGrid>
              <a:tr h="204325">
                <a:tc rowSpan="4"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000000"/>
                          </a:solidFill>
                          <a:latin typeface="Aptos"/>
                        </a:rPr>
                        <a:t>Instruments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MostPop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2.11±0.00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>
                          <a:solidFill>
                            <a:srgbClr val="000000"/>
                          </a:solidFill>
                          <a:latin typeface="Aptos"/>
                        </a:rPr>
                        <a:t>4.58±0.00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2.93±0.00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1.56±0.00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2.59±0.00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3.60±0.00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4.46±0.00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5.42±0.00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97882"/>
                  </a:ext>
                </a:extLst>
              </a:tr>
              <a:tr h="204325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ptos"/>
                        </a:rPr>
                        <a:t>Standard-WMF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1.95±0.04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2.29±0.19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2.14±0.15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1.86±0.05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2.62±0.06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3.65±0.08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4.62±0.10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5.72±0.14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1556"/>
                  </a:ext>
                </a:extLst>
              </a:tr>
              <a:tr h="204325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3000" marB="300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Aptos"/>
                        </a:rPr>
                        <a:t>CoFactor-WMF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2.03±0.07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2.35±0.21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2.22±0.09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1.94±0.10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2.64±0.05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3.65±0.08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>
                          <a:solidFill>
                            <a:srgbClr val="000000"/>
                          </a:solidFill>
                          <a:latin typeface="Aptos"/>
                        </a:rPr>
                        <a:t>4.60±0.13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none" dirty="0">
                          <a:solidFill>
                            <a:srgbClr val="000000"/>
                          </a:solidFill>
                          <a:latin typeface="Aptos"/>
                        </a:rPr>
                        <a:t>5.69±0.19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14949"/>
                  </a:ext>
                </a:extLst>
              </a:tr>
              <a:tr h="204325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3000" marB="300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ptos"/>
                        </a:rPr>
                        <a:t>CPARMS-WMF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2.59±0.10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u="sng">
                          <a:solidFill>
                            <a:srgbClr val="000000"/>
                          </a:solidFill>
                          <a:latin typeface="Aptos"/>
                        </a:rPr>
                        <a:t>3.85±0.48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3.19±0.12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2.27±0.08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3.35±0.10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4.51±0.13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5.51±0.18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u="none" dirty="0">
                          <a:solidFill>
                            <a:srgbClr val="000000"/>
                          </a:solidFill>
                          <a:latin typeface="Aptos"/>
                        </a:rPr>
                        <a:t>6.60±0.27</a:t>
                      </a:r>
                    </a:p>
                  </a:txBody>
                  <a:tcPr marL="18000" marR="18000" marT="3000" marB="3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692178"/>
                  </a:ext>
                </a:extLst>
              </a:tr>
            </a:tbl>
          </a:graphicData>
        </a:graphic>
      </p:graphicFrame>
      <p:sp>
        <p:nvSpPr>
          <p:cNvPr id="15" name="Footer Placeholder 19">
            <a:extLst>
              <a:ext uri="{FF2B5EF4-FFF2-40B4-BE49-F238E27FC236}">
                <a16:creationId xmlns:a16="http://schemas.microsoft.com/office/drawing/2014/main" id="{892222E7-EA84-D75D-5EBA-26E03C594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16" name="Slide Number Placeholder 20">
            <a:extLst>
              <a:ext uri="{FF2B5EF4-FFF2-40B4-BE49-F238E27FC236}">
                <a16:creationId xmlns:a16="http://schemas.microsoft.com/office/drawing/2014/main" id="{8EE3BEEA-2E56-6C05-1098-0771734E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18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3CC47657-6C15-B146-6D04-B97845B271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3581837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9873E-8C68-EBE8-8326-E0B9824BA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4542ECD-7A3D-D64D-211C-9E19A793D6B3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4.2 Pairwise NDCG Wins by Group and Cutoff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3690F2-3F79-B22E-1955-504BF320B97D}"/>
              </a:ext>
            </a:extLst>
          </p:cNvPr>
          <p:cNvSpPr txBox="1"/>
          <p:nvPr/>
        </p:nvSpPr>
        <p:spPr>
          <a:xfrm>
            <a:off x="5549472" y="1638890"/>
            <a:ext cx="6000000" cy="33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/>
            <a:r>
              <a:rPr lang="en-US" sz="1200" i="1" dirty="0"/>
              <a:t>Wins out of 25 dataset–seed runs (5 datasets × 5 seeds), from unrounded NDCG. All/1/2/3+ are @10 by history; @20–@200 are overall (All).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56E7657-41CF-0EF5-A491-ABA1D070B1FC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F43B26C-7D3A-98FB-D3F3-C72BC2FC5D50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EB0183F-CD36-78F0-DFEC-F72FE222BAE5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0667721-D9D6-B66D-EDAB-2645A0F2D1C0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44233C3-FD30-0504-4407-9D6425F2AD74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AAD886A-4EE7-E51F-7CC4-35F32A621796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FA84EBC-BC5C-59EE-D8FD-ED8FC35A3EBB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D8FDDFE-52F8-C800-C32C-FF4DD7ABF841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3A94636-A390-D835-0679-6E4BF56EA21F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B1743D0-A408-21BF-4B3F-3805441B348D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D0E9AD0-A459-24D8-BD24-2892B041F213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1D28B14-CF51-26E8-3FED-3392BC1B61BB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484E8DA-1691-8FD5-232D-624AD75E6024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3BDDC13-2E0A-57E5-DA71-7E7CDC5265AE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4AFF086-DE79-F1CB-C5AD-4260FDA3AE7F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15" name="Footer Placeholder 19">
            <a:extLst>
              <a:ext uri="{FF2B5EF4-FFF2-40B4-BE49-F238E27FC236}">
                <a16:creationId xmlns:a16="http://schemas.microsoft.com/office/drawing/2014/main" id="{DD42D287-FB38-EF7E-8D90-D1B3EBF83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16" name="Slide Number Placeholder 20">
            <a:extLst>
              <a:ext uri="{FF2B5EF4-FFF2-40B4-BE49-F238E27FC236}">
                <a16:creationId xmlns:a16="http://schemas.microsoft.com/office/drawing/2014/main" id="{2C5D7445-0BF1-F7DA-6D22-22B6BB5E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19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554B6C65-6C6F-68D7-7FBB-C065F1FFC9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EFDB56-79AE-5DA2-2CED-93A9C1A81004}"/>
              </a:ext>
            </a:extLst>
          </p:cNvPr>
          <p:cNvSpPr txBox="1"/>
          <p:nvPr/>
        </p:nvSpPr>
        <p:spPr>
          <a:xfrm>
            <a:off x="1600000" y="4650000"/>
            <a:ext cx="8992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0" dirty="0"/>
              <a:t>Overall: CPARMS-WMF wins 73/75 pairwise dataset–seed comparisons — 24/25 against each WMF baseline, 25/25 against MostPop.</a:t>
            </a:r>
          </a:p>
          <a:p>
            <a:pPr>
              <a:spcAft>
                <a:spcPts val="600"/>
              </a:spcAft>
            </a:pPr>
            <a:r>
              <a:rPr lang="en-US" sz="1400" b="0" dirty="0"/>
              <a:t>One-interaction group: beats Standard-WMF 21/25 and CoFactor-WMF 19/25, but only 13/25 against MostPop — popularity stays strong at the very first interaction.</a:t>
            </a:r>
          </a:p>
          <a:p>
            <a:pPr>
              <a:spcAft>
                <a:spcPts val="600"/>
              </a:spcAft>
            </a:pPr>
            <a:r>
              <a:rPr lang="en-US" sz="1400" b="0" dirty="0"/>
              <a:t>Two-interaction group: 22/25 vs Standard-WMF, 23/25 vs CoFactor-WMF, 18/25 vs MostPop.</a:t>
            </a:r>
          </a:p>
          <a:p>
            <a:pPr>
              <a:spcAft>
                <a:spcPts val="600"/>
              </a:spcAft>
            </a:pPr>
            <a:r>
              <a:rPr lang="en-US" sz="1400" b="0" dirty="0"/>
              <a:t>Three-plus interactions: 25/25 vs MostPop, 23/25 vs Standard-WMF, 24/25 vs CoFactor-WMF — best mean on all 5 datasets.</a:t>
            </a:r>
          </a:p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1600200" y="2578608"/>
          <a:ext cx="8412480" cy="1609344"/>
        </p:xfrm>
        <a:graphic>
          <a:graphicData uri="http://schemas.openxmlformats.org/drawingml/2006/table">
            <a:tbl>
              <a:tblPr firstRow="1" bandRow="0" firstCol="0">
                <a:tableStyleId>{5C22544A-7EE6-4342-B048-85BDC9FD1C3A}</a:tableStyleId>
              </a:tblPr>
              <a:tblGrid>
                <a:gridCol w="219456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45720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CPARMS-WMF vs.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1F3D5C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NDCG@10 wins — overall (All) and by # interactions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1F3D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Overall (All) wins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1F3D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</a:tcPr>
                </a:tc>
              </a:tr>
              <a:tr h="274320">
                <a:tc vMerge="1">
                  <a:txBody>
                    <a:bodyPr/>
                    <a:lstStyle/>
                    <a:p/>
                  </a:txBody>
                  <a:tcPr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3365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3365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3365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3+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3365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@20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3365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@50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3365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@100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3365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@200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33658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MostPop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Standard-WMF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CoFactor-WMF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36576" marR="36576" marT="9144" marB="9144">
                    <a:lnB w="6350" cap="flat">
                      <a:solidFill>
                        <a:srgbClr val="BFBFBF"/>
                      </a:solidFill>
                    </a:lnB>
                    <a:lnT w="6350" cap="flat">
                      <a:solidFill>
                        <a:srgbClr val="BFBFBF"/>
                      </a:solidFill>
                    </a:lnT>
                    <a:lnR w="6350" cap="flat">
                      <a:solidFill>
                        <a:srgbClr val="BFBFBF"/>
                      </a:solidFill>
                    </a:lnR>
                    <a:lnL w="6350" cap="flat">
                      <a:solidFill>
                        <a:srgbClr val="BFBFBF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752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75D96-6663-402C-A528-416A0AF2F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B5131D1-99A0-FFFC-A610-9B9F0236C8FC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4.3 Computational Cost (mean total time, 5 seeds)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25645977-4712-7C58-9EA4-FA958D1D4F08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62B06B45-EC1B-9A0A-A4B3-BE955BA3BCF5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2D735C3-4D24-00EC-3622-095270E0D8C4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D15B3DFD-624B-E6CC-5201-1F7386C7A5E5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3961168-18D5-4D48-3D2C-6A8C897CC52F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B514BE6-AF72-E99F-CAFB-ABF00092EEF6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97223CEA-58AD-D56F-8188-201413AB5EB1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774CABB-AF36-E7FD-9BE5-3026C596188E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D4D80245-E1C3-F6A7-6835-1A7E8BB46BE5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B3550F72-ABDF-633A-6C40-2F1657648CCB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E67BC9A7-4266-4293-A2D9-8B5DABAB4B0E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F3B1CBD6-85BD-5760-4441-B33EB7019E20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4CBADC8-3A83-6EBF-6177-CBDEF8D64A89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0FF6AD85-8D28-3F97-373A-911F4E975D10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9E714966-4B9D-D855-D3F9-B259FAD54F96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graphicFrame>
        <p:nvGraphicFramePr>
          <p:cNvPr id="2" name="RuntimeChart">
            <a:extLst>
              <a:ext uri="{FF2B5EF4-FFF2-40B4-BE49-F238E27FC236}">
                <a16:creationId xmlns:a16="http://schemas.microsoft.com/office/drawing/2014/main" id="{4EDE506C-947B-9681-9518-96FFF5D4EFD6}"/>
              </a:ext>
            </a:extLst>
          </p:cNvPr>
          <p:cNvGraphicFramePr/>
          <p:nvPr/>
        </p:nvGraphicFramePr>
        <p:xfrm>
          <a:off x="304800" y="2260600"/>
          <a:ext cx="6399241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C4F87E7-590A-8ED5-8181-789206B7D5CA}"/>
              </a:ext>
            </a:extLst>
          </p:cNvPr>
          <p:cNvSpPr txBox="1"/>
          <p:nvPr/>
        </p:nvSpPr>
        <p:spPr>
          <a:xfrm>
            <a:off x="6704041" y="2184400"/>
            <a:ext cx="4933932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1A3A5C"/>
                </a:solidFill>
              </a:rPr>
              <a:t>CPARMS-WMF total-time multiplier vs. each baseline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2BCAEC-6E8B-0801-E02C-1538CCBB5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815702"/>
              </p:ext>
            </p:extLst>
          </p:nvPr>
        </p:nvGraphicFramePr>
        <p:xfrm>
          <a:off x="6772275" y="2644774"/>
          <a:ext cx="4972050" cy="348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150">
                  <a:extLst>
                    <a:ext uri="{9D8B030D-6E8A-4147-A177-3AD203B41FA5}">
                      <a16:colId xmlns:a16="http://schemas.microsoft.com/office/drawing/2014/main" val="792756780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366730813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1840035056"/>
                    </a:ext>
                  </a:extLst>
                </a:gridCol>
              </a:tblGrid>
              <a:tr h="58115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vs Standard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vs CoFactor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484047"/>
                  </a:ext>
                </a:extLst>
              </a:tr>
              <a:tr h="5811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4466"/>
                          </a:solidFill>
                          <a:latin typeface="Aptos"/>
                        </a:rPr>
                        <a:t>Luxury Beauty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  <a:latin typeface="Aptos"/>
                        </a:rPr>
                        <a:t>3.09×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ptos"/>
                        </a:rPr>
                        <a:t>2.06×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46532"/>
                  </a:ext>
                </a:extLst>
              </a:tr>
              <a:tr h="5811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4466"/>
                          </a:solidFill>
                          <a:latin typeface="Aptos"/>
                        </a:rPr>
                        <a:t>Industrial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  <a:latin typeface="Aptos"/>
                        </a:rPr>
                        <a:t>6.69×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ptos"/>
                        </a:rPr>
                        <a:t>4.31×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48771"/>
                  </a:ext>
                </a:extLst>
              </a:tr>
              <a:tr h="5811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4466"/>
                          </a:solidFill>
                          <a:latin typeface="Aptos"/>
                        </a:rPr>
                        <a:t>Pantry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ptos"/>
                        </a:rPr>
                        <a:t>7.45×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  <a:latin typeface="Aptos"/>
                        </a:rPr>
                        <a:t>3.89×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456006"/>
                  </a:ext>
                </a:extLst>
              </a:tr>
              <a:tr h="5811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4466"/>
                          </a:solidFill>
                          <a:latin typeface="Aptos"/>
                        </a:rPr>
                        <a:t>Music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ptos"/>
                        </a:rPr>
                        <a:t>8.23×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  <a:latin typeface="Aptos"/>
                        </a:rPr>
                        <a:t>3.75×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645904"/>
                  </a:ext>
                </a:extLst>
              </a:tr>
              <a:tr h="5811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4466"/>
                          </a:solidFill>
                          <a:latin typeface="Aptos"/>
                        </a:rPr>
                        <a:t>Instruments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1"/>
                          </a:solidFill>
                          <a:latin typeface="Aptos"/>
                        </a:rPr>
                        <a:t>14.25×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tx1"/>
                          </a:solidFill>
                          <a:latin typeface="Aptos"/>
                        </a:rPr>
                        <a:t>6.56×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423017"/>
                  </a:ext>
                </a:extLst>
              </a:tr>
            </a:tbl>
          </a:graphicData>
        </a:graphic>
      </p:graphicFrame>
      <p:sp>
        <p:nvSpPr>
          <p:cNvPr id="6" name="Footer Placeholder 19">
            <a:extLst>
              <a:ext uri="{FF2B5EF4-FFF2-40B4-BE49-F238E27FC236}">
                <a16:creationId xmlns:a16="http://schemas.microsoft.com/office/drawing/2014/main" id="{925C96DE-6E6F-0524-D4E4-D7502CDA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7" name="Slide Number Placeholder 20">
            <a:extLst>
              <a:ext uri="{FF2B5EF4-FFF2-40B4-BE49-F238E27FC236}">
                <a16:creationId xmlns:a16="http://schemas.microsoft.com/office/drawing/2014/main" id="{34B0A4FE-46EA-C1F3-F496-DE66BE76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20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Date Placeholder 18">
            <a:extLst>
              <a:ext uri="{FF2B5EF4-FFF2-40B4-BE49-F238E27FC236}">
                <a16:creationId xmlns:a16="http://schemas.microsoft.com/office/drawing/2014/main" id="{30DFD56D-809F-8A61-88E4-2936985880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2937089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7401B-9797-8587-6CA2-77BD0BAB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7CC0B835-0D1B-5010-FF35-13AFAF93A232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5.1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0759EB-B057-4A6B-0BFB-BA53017F7E61}"/>
              </a:ext>
            </a:extLst>
          </p:cNvPr>
          <p:cNvSpPr txBox="1"/>
          <p:nvPr/>
        </p:nvSpPr>
        <p:spPr>
          <a:xfrm>
            <a:off x="632116" y="1831994"/>
            <a:ext cx="5378159" cy="409342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n-US" b="1" dirty="0"/>
              <a:t>Key Findings</a:t>
            </a:r>
          </a:p>
          <a:p>
            <a:pPr marL="0" indent="0">
              <a:buNone/>
            </a:pPr>
            <a:endParaRPr lang="en-US" sz="1400" b="1" dirty="0"/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Feature-free: the CPARMS signal (user/item clustering + pairwise A→B association rules) is added to WMF and learned from interaction data alone — no side information.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Best overall NDCG@10 mean on all 5 datasets at every cutoff (@10–@200); wins 73/75 pairwise dataset–seed runs (24/25 vs each WMF baseline, 25/25 vs MostPop).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NDCG@10 gains: +6.4–58.4% vs Standard-WMF and +5.3–55.8% vs CoFactor-WMF; equal-weighted mean 2.79% vs 2.32% / 2.35% / 1.36%.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Largest gains for sparse-history users, but popularity stays competitive at a single interaction (only 13/25 vs MostPop).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A5736C-C5BD-E70E-6507-CFF2B7E514B1}"/>
              </a:ext>
            </a:extLst>
          </p:cNvPr>
          <p:cNvSpPr txBox="1"/>
          <p:nvPr/>
        </p:nvSpPr>
        <p:spPr>
          <a:xfrm>
            <a:off x="6181725" y="1828800"/>
            <a:ext cx="5378159" cy="409651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n-US" b="1" dirty="0"/>
              <a:t>Takeaway</a:t>
            </a:r>
          </a:p>
          <a:p>
            <a:pPr marL="0" indent="0">
              <a:buNone/>
            </a:pPr>
            <a:endParaRPr lang="en-US" sz="1400" b="1" dirty="0"/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Interaction data alone can meaningfully improve personalized ranking under sparse implicit feedback.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Best viewed as history-aware: popularity remains a strong reference at the very shortest histories.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4A82679-3567-3494-D48A-B13AF05EB14D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C19BB46-4B37-A6C9-3D55-8750B89CFC66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929323-225C-7CC3-9D7F-61EB929F8056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22946B-5014-D4FA-B327-59BA4C4BA9AF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676B69-23A4-365B-04EE-BEF6E9B83B30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BEEA9E4-6C59-1305-CB36-8BDCEE07FB18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EBBAE7-4B9C-1BC4-0749-3218738B2825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01BA559-ECBC-E3D3-3EBF-62D90EA3D5CB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4C95B6-7BD9-3D46-B0FC-205B54D5F2DA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4FAA735-E7ED-6C7A-AA70-D1B65B8D0B9B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FDBDB9-B25D-144B-A3F9-CA41DA4731CD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1662F7B-C363-0DD2-BD27-CF46B129A875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CAA60D-BD69-7A21-2194-9899B0DD0AED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7AAABED-F4F7-37A7-70D3-D58D33C32F10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8EB6BF-8BDF-8A5E-5E31-3E9B267A4E15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3" name="Footer Placeholder 19">
            <a:extLst>
              <a:ext uri="{FF2B5EF4-FFF2-40B4-BE49-F238E27FC236}">
                <a16:creationId xmlns:a16="http://schemas.microsoft.com/office/drawing/2014/main" id="{B1BB9321-CF64-F62D-8220-36CABDDC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4" name="Slide Number Placeholder 20">
            <a:extLst>
              <a:ext uri="{FF2B5EF4-FFF2-40B4-BE49-F238E27FC236}">
                <a16:creationId xmlns:a16="http://schemas.microsoft.com/office/drawing/2014/main" id="{409728AA-180F-1080-41C5-4CE80506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21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Date Placeholder 18">
            <a:extLst>
              <a:ext uri="{FF2B5EF4-FFF2-40B4-BE49-F238E27FC236}">
                <a16:creationId xmlns:a16="http://schemas.microsoft.com/office/drawing/2014/main" id="{109742F5-F7C7-ED7D-CA6F-70321174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596303792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" name="TextBox 25">
            <a:extLst>
              <a:ext uri="{FF2B5EF4-FFF2-40B4-BE49-F238E27FC236}">
                <a16:creationId xmlns:a16="http://schemas.microsoft.com/office/drawing/2014/main" id="{7CC0B835-0D1B-5010-FF35-13AFAF93A232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5.2 Discussion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0759EB-B057-4A6B-0BFB-BA53017F7E61}"/>
              </a:ext>
            </a:extLst>
          </p:cNvPr>
          <p:cNvSpPr txBox="1"/>
          <p:nvPr/>
        </p:nvSpPr>
        <p:spPr>
          <a:xfrm>
            <a:off x="632116" y="1831994"/>
            <a:ext cx="5378159" cy="409342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n-US" b="1" dirty="0"/>
              <a:t>What the results show</a:t>
            </a:r>
          </a:p>
          <a:p>
            <a:pPr marL="0" indent="0">
              <a:buNone/>
            </a:pPr>
            <a:endParaRPr lang="en-US" sz="1400" b="1" dirty="0"/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Main claim holds: CPARMS-WMF improves personalized WMF from interactions alone — 73/75 wins, best mean on all 5 datasets, +6.4–58.4% at NDCG@10.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The signal supplies soft positive targets for unseen items when implicit-feedback WMF has little user-specific evidence.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vs CoFactor-WMF (same WMF backbone): CPARMS-WMF wins all 5 means (24/25). Reconstructing the signal directly in user–item space beats item–item SPPMI via shared embeddings at this sparsity.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A5736C-C5BD-E70E-6507-CFF2B7E514B1}"/>
              </a:ext>
            </a:extLst>
          </p:cNvPr>
          <p:cNvSpPr txBox="1"/>
          <p:nvPr/>
        </p:nvSpPr>
        <p:spPr>
          <a:xfrm>
            <a:off x="6181725" y="1828800"/>
            <a:ext cx="5378159" cy="409651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n-US" b="1" dirty="0"/>
              <a:t>History length &amp; popularity</a:t>
            </a:r>
          </a:p>
          <a:p>
            <a:pPr marL="0" indent="0">
              <a:buNone/>
            </a:pPr>
            <a:endParaRPr lang="en-US" sz="1400" b="1" dirty="0"/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Advantage over WMF grows with history: 2 interactions 22/25 (Standard) and 23/25 (CoFactor); 3+ best mean on all 5. At one interaction, gains are inconsistent (Luxury Beauty is the exception) and popularity often wins.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Implicit popularity blend: where popularity is strongest (Industrial &amp; Scientific), validation picks K_U=1 in all 5 runs, so the generic signal becomes a popularity-like prior and CPARMS-WMF is the only personalized model beating MostPop; multi-cluster settings win where popularity is weak (Luxury Beauty, Music).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Practical implication: a history-aware blend of CPARMS-WMF and popularity may help (not tested here).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4A82679-3567-3494-D48A-B13AF05EB14D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C19BB46-4B37-A6C9-3D55-8750B89CFC66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929323-225C-7CC3-9D7F-61EB929F8056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22946B-5014-D4FA-B327-59BA4C4BA9AF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676B69-23A4-365B-04EE-BEF6E9B83B30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BEEA9E4-6C59-1305-CB36-8BDCEE07FB18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EBBAE7-4B9C-1BC4-0749-3218738B2825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01BA559-ECBC-E3D3-3EBF-62D90EA3D5CB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4C95B6-7BD9-3D46-B0FC-205B54D5F2DA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4FAA735-E7ED-6C7A-AA70-D1B65B8D0B9B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FDBDB9-B25D-144B-A3F9-CA41DA4731CD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1662F7B-C363-0DD2-BD27-CF46B129A875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CAA60D-BD69-7A21-2194-9899B0DD0AED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7AAABED-F4F7-37A7-70D3-D58D33C32F10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8EB6BF-8BDF-8A5E-5E31-3E9B267A4E15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3" name="Footer Placeholder 19">
            <a:extLst>
              <a:ext uri="{FF2B5EF4-FFF2-40B4-BE49-F238E27FC236}">
                <a16:creationId xmlns:a16="http://schemas.microsoft.com/office/drawing/2014/main" id="{B1BB9321-CF64-F62D-8220-36CABDDC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4" name="Slide Number Placeholder 20">
            <a:extLst>
              <a:ext uri="{FF2B5EF4-FFF2-40B4-BE49-F238E27FC236}">
                <a16:creationId xmlns:a16="http://schemas.microsoft.com/office/drawing/2014/main" id="{409728AA-180F-1080-41C5-4CE80506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21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Date Placeholder 18">
            <a:extLst>
              <a:ext uri="{FF2B5EF4-FFF2-40B4-BE49-F238E27FC236}">
                <a16:creationId xmlns:a16="http://schemas.microsoft.com/office/drawing/2014/main" id="{109742F5-F7C7-ED7D-CA6F-70321174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" name="TextBox 25">
            <a:extLst>
              <a:ext uri="{FF2B5EF4-FFF2-40B4-BE49-F238E27FC236}">
                <a16:creationId xmlns:a16="http://schemas.microsoft.com/office/drawing/2014/main" id="{7CC0B835-0D1B-5010-FF35-13AFAF93A232}"/>
              </a:ext>
            </a:extLst>
          </p:cNvPr>
          <p:cNvSpPr txBox="1"/>
          <p:nvPr/>
        </p:nvSpPr>
        <p:spPr>
          <a:xfrm>
            <a:off x="501650" y="1074560"/>
            <a:ext cx="11058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5.3 Limitations &amp; Future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0759EB-B057-4A6B-0BFB-BA53017F7E61}"/>
              </a:ext>
            </a:extLst>
          </p:cNvPr>
          <p:cNvSpPr txBox="1"/>
          <p:nvPr/>
        </p:nvSpPr>
        <p:spPr>
          <a:xfrm>
            <a:off x="632116" y="1831994"/>
            <a:ext cx="5378159" cy="409342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n-US" b="1" dirty="0"/>
              <a:t>Limitations</a:t>
            </a:r>
          </a:p>
          <a:p>
            <a:pPr marL="0" indent="0">
              <a:buNone/>
            </a:pPr>
            <a:endParaRPr lang="en-US" sz="1400" b="1" dirty="0"/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Popularity competitive at the shortest histories: MostPop keeps the best one-interaction mean on Industrial &amp; Scientific and Instruments, and the best two-interaction mean on Industrial &amp; Scientific.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Computational cost: 3.1–14.2× Standard-WMF and 2.1–6.6× CoFactor-WMF, driven by denser signal-regularized ALS updates.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Limited baselines: one non-personalized and two interaction-only factorization baselines; no nearest-neighbor, graph-based, neural, or side-information methods.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A5736C-C5BD-E70E-6507-CFF2B7E514B1}"/>
              </a:ext>
            </a:extLst>
          </p:cNvPr>
          <p:cNvSpPr txBox="1"/>
          <p:nvPr/>
        </p:nvSpPr>
        <p:spPr>
          <a:xfrm>
            <a:off x="6181725" y="1828800"/>
            <a:ext cx="5378159" cy="409651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en-US" b="1" dirty="0"/>
              <a:t>Future Work</a:t>
            </a:r>
          </a:p>
          <a:p>
            <a:pPr marL="0" indent="0">
              <a:buNone/>
            </a:pPr>
            <a:endParaRPr lang="en-US" sz="1400" b="1" dirty="0"/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Extend beyond pairwise, single-antecedent rules to higher-order association rules (early Apriori/FP-Growth trials were far costlier and were excluded).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Develop a fair evaluation protocol for users with no positive-feedback history.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Integrate the CPARMS signal into other models, e.g. graph-based recommenders and Neural Matrix Factorization.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Broader/online evaluation of behavior, calibration, diversity, novelty, and user satisfaction; and a history-aware CPARMS + popularity blend.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4A82679-3567-3494-D48A-B13AF05EB14D}"/>
              </a:ext>
            </a:extLst>
          </p:cNvPr>
          <p:cNvSpPr/>
          <p:nvPr/>
        </p:nvSpPr>
        <p:spPr>
          <a:xfrm>
            <a:off x="0" y="0"/>
            <a:ext cx="12192000" cy="7367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C19BB46-4B37-A6C9-3D55-8750B89CFC66}"/>
              </a:ext>
            </a:extLst>
          </p:cNvPr>
          <p:cNvSpPr/>
          <p:nvPr/>
        </p:nvSpPr>
        <p:spPr>
          <a:xfrm>
            <a:off x="8736825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929323-225C-7CC3-9D7F-61EB929F8056}"/>
              </a:ext>
            </a:extLst>
          </p:cNvPr>
          <p:cNvSpPr txBox="1"/>
          <p:nvPr/>
        </p:nvSpPr>
        <p:spPr>
          <a:xfrm>
            <a:off x="8736822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22946B-5014-D4FA-B327-59BA4C4BA9AF}"/>
              </a:ext>
            </a:extLst>
          </p:cNvPr>
          <p:cNvSpPr/>
          <p:nvPr/>
        </p:nvSpPr>
        <p:spPr>
          <a:xfrm>
            <a:off x="7092181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676B69-23A4-365B-04EE-BEF6E9B83B30}"/>
              </a:ext>
            </a:extLst>
          </p:cNvPr>
          <p:cNvSpPr txBox="1"/>
          <p:nvPr/>
        </p:nvSpPr>
        <p:spPr>
          <a:xfrm>
            <a:off x="7092178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BEEA9E4-6C59-1305-CB36-8BDCEE07FB18}"/>
              </a:ext>
            </a:extLst>
          </p:cNvPr>
          <p:cNvSpPr/>
          <p:nvPr/>
        </p:nvSpPr>
        <p:spPr>
          <a:xfrm>
            <a:off x="5447537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EBBAE7-4B9C-1BC4-0749-3218738B2825}"/>
              </a:ext>
            </a:extLst>
          </p:cNvPr>
          <p:cNvSpPr txBox="1"/>
          <p:nvPr/>
        </p:nvSpPr>
        <p:spPr>
          <a:xfrm>
            <a:off x="5447534" y="159603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01BA559-ECBC-E3D3-3EBF-62D90EA3D5CB}"/>
              </a:ext>
            </a:extLst>
          </p:cNvPr>
          <p:cNvSpPr/>
          <p:nvPr/>
        </p:nvSpPr>
        <p:spPr>
          <a:xfrm>
            <a:off x="3798909" y="482311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4C95B6-7BD9-3D46-B0FC-205B54D5F2DA}"/>
              </a:ext>
            </a:extLst>
          </p:cNvPr>
          <p:cNvSpPr txBox="1"/>
          <p:nvPr/>
        </p:nvSpPr>
        <p:spPr>
          <a:xfrm>
            <a:off x="3738975" y="159603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Literature Review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4FAA735-E7ED-6C7A-AA70-D1B65B8D0B9B}"/>
              </a:ext>
            </a:extLst>
          </p:cNvPr>
          <p:cNvSpPr/>
          <p:nvPr/>
        </p:nvSpPr>
        <p:spPr>
          <a:xfrm>
            <a:off x="2150281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FDBDB9-B25D-144B-A3F9-CA41DA4731CD}"/>
              </a:ext>
            </a:extLst>
          </p:cNvPr>
          <p:cNvSpPr txBox="1"/>
          <p:nvPr/>
        </p:nvSpPr>
        <p:spPr>
          <a:xfrm>
            <a:off x="2090347" y="156070"/>
            <a:ext cx="13763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1662F7B-C363-0DD2-BD27-CF46B129A875}"/>
              </a:ext>
            </a:extLst>
          </p:cNvPr>
          <p:cNvSpPr/>
          <p:nvPr/>
        </p:nvSpPr>
        <p:spPr>
          <a:xfrm>
            <a:off x="501653" y="478778"/>
            <a:ext cx="1256506" cy="73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CAA60D-BD69-7A21-2194-9899B0DD0AED}"/>
              </a:ext>
            </a:extLst>
          </p:cNvPr>
          <p:cNvSpPr txBox="1"/>
          <p:nvPr/>
        </p:nvSpPr>
        <p:spPr>
          <a:xfrm>
            <a:off x="501650" y="15607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7AAABED-F4F7-37A7-70D3-D58D33C32F10}"/>
              </a:ext>
            </a:extLst>
          </p:cNvPr>
          <p:cNvSpPr/>
          <p:nvPr/>
        </p:nvSpPr>
        <p:spPr>
          <a:xfrm>
            <a:off x="10381469" y="478398"/>
            <a:ext cx="1256506" cy="73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8EB6BF-8BDF-8A5E-5E31-3E9B267A4E15}"/>
              </a:ext>
            </a:extLst>
          </p:cNvPr>
          <p:cNvSpPr txBox="1"/>
          <p:nvPr/>
        </p:nvSpPr>
        <p:spPr>
          <a:xfrm>
            <a:off x="10381466" y="155690"/>
            <a:ext cx="1256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</p:txBody>
      </p:sp>
      <p:sp>
        <p:nvSpPr>
          <p:cNvPr id="3" name="Footer Placeholder 19">
            <a:extLst>
              <a:ext uri="{FF2B5EF4-FFF2-40B4-BE49-F238E27FC236}">
                <a16:creationId xmlns:a16="http://schemas.microsoft.com/office/drawing/2014/main" id="{B1BB9321-CF64-F62D-8220-36CABDDC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9849" y="6435723"/>
            <a:ext cx="954405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CPARMS-WMF: A Feature-Free Clustering Pairwise Association Rule Mining Signal for Weighted Matrix Factorization under Sparse Implicit Feedback</a:t>
            </a:r>
          </a:p>
        </p:txBody>
      </p:sp>
      <p:sp>
        <p:nvSpPr>
          <p:cNvPr id="4" name="Slide Number Placeholder 20">
            <a:extLst>
              <a:ext uri="{FF2B5EF4-FFF2-40B4-BE49-F238E27FC236}">
                <a16:creationId xmlns:a16="http://schemas.microsoft.com/office/drawing/2014/main" id="{409728AA-180F-1080-41C5-4CE80506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4950" y="6435723"/>
            <a:ext cx="2743200" cy="365125"/>
          </a:xfrm>
        </p:spPr>
        <p:txBody>
          <a:bodyPr/>
          <a:lstStyle/>
          <a:p>
            <a:fld id="{F22E1914-AF5E-4610-B8D9-A8FAB20664DA}" type="slidenum">
              <a:rPr lang="en-US" sz="1050" i="1" smtClean="0">
                <a:solidFill>
                  <a:schemeClr val="bg1">
                    <a:lumMod val="50000"/>
                  </a:schemeClr>
                </a:solidFill>
              </a:rPr>
              <a:t>21</a:t>
            </a:fld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Date Placeholder 18">
            <a:extLst>
              <a:ext uri="{FF2B5EF4-FFF2-40B4-BE49-F238E27FC236}">
                <a16:creationId xmlns:a16="http://schemas.microsoft.com/office/drawing/2014/main" id="{109742F5-F7C7-ED7D-CA6F-70321174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850" y="6435723"/>
            <a:ext cx="2743200" cy="365125"/>
          </a:xfrm>
        </p:spPr>
        <p:txBody>
          <a:bodyPr/>
          <a:lstStyle/>
          <a:p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June 30,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0F90B3-CED8-459A-9A54-7654F9979A8D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6ae48c8-4198-4a3c-a5fa-071242e89b7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22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CPARMS-WMF</dc:title>
  <dc:creator>Peerapat Tancharoen</dc:creator>
  <cp:lastModifiedBy>Peerapat Tancharoen</cp:lastModifiedBy>
  <cp:revision>1</cp:revision>
</cp:coreProperties>
</file>